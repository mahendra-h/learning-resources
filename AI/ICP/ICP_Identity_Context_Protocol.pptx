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0E9F7E">
              <a:alpha val="15000"/>
            </a:srgbClr>
          </a:solidFill>
          <a:ln w="12700">
            <a:solidFill>
              <a:srgbClr val="0E9F7E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12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223760" y="109728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00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Context Protocol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65760" y="457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57276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Cross-IdP Identity Nervous System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AI Agents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5760" y="2514600"/>
            <a:ext cx="4114800" cy="36576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697480"/>
            <a:ext cx="3840480" cy="329184"/>
          </a:xfrm>
          <a:prstGeom prst="rect">
            <a:avLst>
              <a:gd name="adj" fmla="val 13889"/>
            </a:avLst>
          </a:prstGeom>
          <a:solidFill>
            <a:srgbClr val="152748"/>
          </a:solidFill>
          <a:ln w="6350">
            <a:solidFill>
              <a:srgbClr val="0E9F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2715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TypeScript · MCP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136392"/>
            <a:ext cx="3840480" cy="329184"/>
          </a:xfrm>
          <a:prstGeom prst="rect">
            <a:avLst>
              <a:gd name="adj" fmla="val 13889"/>
            </a:avLst>
          </a:prstGeom>
          <a:solidFill>
            <a:srgbClr val="152748"/>
          </a:solidFill>
          <a:ln w="6350">
            <a:solidFill>
              <a:srgbClr val="0E9F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· Multi-Agent Framework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575304"/>
            <a:ext cx="3840480" cy="329184"/>
          </a:xfrm>
          <a:prstGeom prst="rect">
            <a:avLst>
              <a:gd name="adj" fmla="val 13889"/>
            </a:avLst>
          </a:prstGeom>
          <a:solidFill>
            <a:srgbClr val="152748"/>
          </a:solidFill>
          <a:ln w="6350">
            <a:solidFill>
              <a:srgbClr val="0E9F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3593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Ping Identity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Leadership &amp; Architecture Review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Guards. Two Doors. Zero Coordination.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3474720" cy="2743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3474720" cy="384048"/>
          </a:xfrm>
          <a:prstGeom prst="rect">
            <a:avLst/>
          </a:prstGeom>
          <a:solidFill>
            <a:srgbClr val="244C8F"/>
          </a:solidFill>
          <a:ln w="12700">
            <a:solidFill>
              <a:srgbClr val="244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52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 — Microsoft Entra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54864" cy="201168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19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SharePoint, Outlook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231136"/>
            <a:ext cx="54864" cy="201168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groups &amp; roles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706624"/>
            <a:ext cx="54864" cy="201168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70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policies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182112"/>
            <a:ext cx="54864" cy="201168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455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compliance (Intune)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3337560"/>
            <a:ext cx="365760" cy="3657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349240" y="1234440"/>
            <a:ext cx="3474720" cy="2743200"/>
          </a:xfrm>
          <a:prstGeom prst="rect">
            <a:avLst/>
          </a:prstGeom>
          <a:solidFill>
            <a:srgbClr val="4A1C0A"/>
          </a:solidFill>
          <a:ln w="12700">
            <a:solidFill>
              <a:srgbClr val="4A1C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49240" y="1234440"/>
            <a:ext cx="3474720" cy="384048"/>
          </a:xfrm>
          <a:prstGeom prst="rect">
            <a:avLst/>
          </a:prstGeom>
          <a:solidFill>
            <a:srgbClr val="7B3010"/>
          </a:solidFill>
          <a:ln w="12700">
            <a:solidFill>
              <a:srgbClr val="7B301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0680" y="1252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 — Ping Identity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40680" y="1755648"/>
            <a:ext cx="54864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1719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authentication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40680" y="2231136"/>
            <a:ext cx="54864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7840" y="2194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PingFed / PingOne sessions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40680" y="2706624"/>
            <a:ext cx="54864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2670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MFA &amp; risk scores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40680" y="3182112"/>
            <a:ext cx="54864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0" y="31455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privilege grants</a:t>
            </a:r>
            <a:endParaRPr lang="en-US" sz="12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337560"/>
            <a:ext cx="365760" cy="36576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3794760" y="2011680"/>
            <a:ext cx="1554480" cy="1554480"/>
          </a:xfrm>
          <a:prstGeom prst="ellipse">
            <a:avLst/>
          </a:prstGeom>
          <a:solidFill>
            <a:srgbClr val="2D1A4A"/>
          </a:solidFill>
          <a:ln w="25400">
            <a:solidFill>
              <a:srgbClr val="D640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212848"/>
            <a:ext cx="914400" cy="9144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79476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794760" y="2788920"/>
            <a:ext cx="1554480" cy="0"/>
          </a:xfrm>
          <a:prstGeom prst="line">
            <a:avLst/>
          </a:prstGeom>
          <a:noFill/>
          <a:ln w="25400">
            <a:solidFill>
              <a:srgbClr val="D64045"/>
            </a:solidFill>
            <a:prstDash val="dash"/>
            <a:tailEnd type="arrow"/>
          </a:ln>
        </p:spPr>
      </p:sp>
      <p:sp>
        <p:nvSpPr>
          <p:cNvPr id="32" name="Shape 27"/>
          <p:cNvSpPr/>
          <p:nvPr/>
        </p:nvSpPr>
        <p:spPr>
          <a:xfrm>
            <a:off x="3794760" y="2788920"/>
            <a:ext cx="1554480" cy="0"/>
          </a:xfrm>
          <a:prstGeom prst="line">
            <a:avLst/>
          </a:prstGeom>
          <a:noFill/>
          <a:ln w="25400">
            <a:solidFill>
              <a:srgbClr val="D64045"/>
            </a:solidFill>
            <a:prstDash val="dash"/>
            <a:headEnd type="arrow"/>
          </a:ln>
        </p:spPr>
      </p:sp>
      <p:sp>
        <p:nvSpPr>
          <p:cNvPr id="33" name="Shape 28"/>
          <p:cNvSpPr/>
          <p:nvPr/>
        </p:nvSpPr>
        <p:spPr>
          <a:xfrm>
            <a:off x="320040" y="4133088"/>
            <a:ext cx="850392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02920" y="41879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terminal knows what the other is doing — and the AI agent has no unified picture of trust, risk, or entitlements.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AI AGENT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Identity Blind Spots — Multiplied by Every Agent You Deploy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743200" cy="3246120"/>
          </a:xfrm>
          <a:prstGeom prst="rect">
            <a:avLst/>
          </a:prstGeom>
          <a:solidFill>
            <a:srgbClr val="F0F5FB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2743200" cy="10972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1280160"/>
            <a:ext cx="2743200" cy="3246120"/>
          </a:xfrm>
          <a:prstGeom prst="rect">
            <a:avLst/>
          </a:prstGeom>
          <a:solidFill>
            <a:srgbClr val="F0F5FB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46120" y="1280160"/>
            <a:ext cx="274320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280160"/>
            <a:ext cx="2743200" cy="3246120"/>
          </a:xfrm>
          <a:prstGeom prst="rect">
            <a:avLst/>
          </a:prstGeom>
          <a:solidFill>
            <a:srgbClr val="F0F5FB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280160"/>
            <a:ext cx="27432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reached est. 90% enterprise adoption within 12 months of launch (Nov 2024) — agents are already here. Identity controls are not.</a:t>
            </a:r>
            <a:endParaRPr lang="en-US" sz="10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36192"/>
            <a:ext cx="73152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309360" y="2395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Chain Accountability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36792" y="3035808"/>
            <a:ext cx="24140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CrewAI orchestrator spawns 4 sub-agents, nobody records: which human authorised them, what their risk was, or which action each agent took.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536192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2395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Cross-IdP Signal Sharing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4632" y="3035808"/>
            <a:ext cx="24140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privilege escalation in Ping is invisible to Entra-protected resources. Neither IdP surfaces the other's risk signals to AI agents in real time.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36192"/>
            <a:ext cx="731520" cy="7315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83280" y="2395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Carry Static Tokens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410712" y="3035808"/>
            <a:ext cx="24140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receive a token and act on it — with zero awareness that the user's session risk changed 5 minutes ago. Static auth in a dynamic threat world.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772400" y="2743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82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SCENARIO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65760" y="4389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Today — Without ICP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8595360" cy="502920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188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Raj Kumar  ·  Principal Engineer  ·  Working remotely from Chennai (usual location: Bengaluru)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801368"/>
            <a:ext cx="749808" cy="320040"/>
          </a:xfrm>
          <a:prstGeom prst="rect">
            <a:avLst/>
          </a:prstGeom>
          <a:solidFill>
            <a:srgbClr val="6B1A1A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80136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121408"/>
            <a:ext cx="0" cy="438912"/>
          </a:xfrm>
          <a:prstGeom prst="line">
            <a:avLst/>
          </a:prstGeom>
          <a:noFill/>
          <a:ln w="19050">
            <a:solidFill>
              <a:srgbClr val="2A3A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1783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grants Finance-Admin-Temp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" y="2057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manager for a separate project. Expires in 60 min. Entra has no idea.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2560320"/>
            <a:ext cx="749808" cy="320040"/>
          </a:xfrm>
          <a:prstGeom prst="rect">
            <a:avLst/>
          </a:prstGeom>
          <a:solidFill>
            <a:srgbClr val="1A3A2A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56032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09:38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880360"/>
            <a:ext cx="0" cy="438912"/>
          </a:xfrm>
          <a:prstGeom prst="line">
            <a:avLst/>
          </a:prstGeom>
          <a:noFill/>
          <a:ln w="19050">
            <a:solidFill>
              <a:srgbClr val="2A3A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2542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workflow triggered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3000" y="28163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opens an automated data workflow. Orchestrator spawns 3 sub-agents, no human in loop.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3319272"/>
            <a:ext cx="749808" cy="320040"/>
          </a:xfrm>
          <a:prstGeom prst="rect">
            <a:avLst/>
          </a:prstGeom>
          <a:solidFill>
            <a:srgbClr val="6B1A1A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31927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639312"/>
            <a:ext cx="0" cy="438912"/>
          </a:xfrm>
          <a:prstGeom prst="line">
            <a:avLst/>
          </a:prstGeom>
          <a:noFill/>
          <a:ln w="19050">
            <a:solidFill>
              <a:srgbClr val="2A3A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33009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SharePoint payroll folder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43000" y="357530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Entra token. Token is valid. Access granted. Payroll data returned.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74320" y="4078224"/>
            <a:ext cx="749808" cy="320040"/>
          </a:xfrm>
          <a:prstGeom prst="rect">
            <a:avLst/>
          </a:prstGeom>
          <a:solidFill>
            <a:srgbClr val="6B1A1A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07822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43000" y="40599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flagged: anomalous location + elevated privilege + 3-hop agent chain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43000" y="43342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was technically authorised. But the full picture would never have been approved.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solidFill>
            <a:srgbClr val="4A0A0A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47000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Result: Sensitive data accessed during an elevated-privilege session, from an anomalous location, 3 agent hops from the human — zero visibility, zero audit trail.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Ping &amp; Entra Already Ship — and What They Don't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2871216" cy="5120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170432"/>
            <a:ext cx="2761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170432"/>
            <a:ext cx="1773936" cy="5120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73552" y="117043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for AI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 Mar 2026)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170432"/>
            <a:ext cx="1773936" cy="5120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117043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Agent ID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 May 2026)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0" y="1170432"/>
            <a:ext cx="2414016" cy="5120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1170432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You Build)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82496"/>
            <a:ext cx="287121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007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registration &amp; identity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682496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70078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682496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70078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1682496"/>
            <a:ext cx="241401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170078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Defers to both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2871216" cy="402336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13969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/ enforcement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121408"/>
            <a:ext cx="1773936" cy="402336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213969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Agent Gateway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121408"/>
            <a:ext cx="1773936" cy="402336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13969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Cond. Access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2121408"/>
            <a:ext cx="2414016" cy="402336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21396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Cross-vendor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560320"/>
            <a:ext cx="287121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57860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Cross-IdP signal fusion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560320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257860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2560320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257860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2560320"/>
            <a:ext cx="2414016" cy="402336"/>
          </a:xfrm>
          <a:prstGeom prst="rect">
            <a:avLst/>
          </a:prstGeom>
          <a:solidFill>
            <a:srgbClr val="E8F8F2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25786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9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Core differentiator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999232"/>
            <a:ext cx="2871216" cy="402336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0175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risk score (fused)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2999232"/>
            <a:ext cx="1773936" cy="402336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30175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Ping-only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0" y="2999232"/>
            <a:ext cx="1773936" cy="402336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30175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Entra-only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2999232"/>
            <a:ext cx="2414016" cy="402336"/>
          </a:xfrm>
          <a:prstGeom prst="rect">
            <a:avLst/>
          </a:prstGeom>
          <a:solidFill>
            <a:srgbClr val="E8F8F2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30175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9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Fused from both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438144"/>
            <a:ext cx="287121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45643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chain tracking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0" y="3438144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73552" y="345643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0" y="3438144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02352" y="345643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58000" y="3438144"/>
            <a:ext cx="2414016" cy="402336"/>
          </a:xfrm>
          <a:prstGeom prst="rect">
            <a:avLst/>
          </a:prstGeom>
          <a:solidFill>
            <a:srgbClr val="E8F8F2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31152" y="34564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9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Full delegation log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877056"/>
            <a:ext cx="2871216" cy="402336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89534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 to agent prompt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0" y="3877056"/>
            <a:ext cx="1773936" cy="402336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73552" y="389534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29200" y="3877056"/>
            <a:ext cx="1773936" cy="402336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02352" y="389534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58000" y="3877056"/>
            <a:ext cx="2414016" cy="402336"/>
          </a:xfrm>
          <a:prstGeom prst="rect">
            <a:avLst/>
          </a:prstGeom>
          <a:solidFill>
            <a:srgbClr val="E8F8F2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31152" y="389534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9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Caution mode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4315968"/>
            <a:ext cx="287121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33425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workflow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00400" y="4315968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73552" y="433425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029200" y="4315968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02352" y="433425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58000" y="4315968"/>
            <a:ext cx="241401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31152" y="433425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Built-in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4754880"/>
            <a:ext cx="8595360" cy="237744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76402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ICP's moat: cross-vendor fusion + multi-agent chain accountability — the gap neither Ping nor Entra closes today.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029200" y="27432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5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5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5800" dirty="0"/>
          </a:p>
        </p:txBody>
      </p:sp>
      <p:sp>
        <p:nvSpPr>
          <p:cNvPr id="5" name="Shape 2"/>
          <p:cNvSpPr/>
          <p:nvPr/>
        </p:nvSpPr>
        <p:spPr>
          <a:xfrm>
            <a:off x="457200" y="2944368"/>
            <a:ext cx="1005840" cy="54864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3218688"/>
            <a:ext cx="54864" cy="329184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31638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call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" y="34198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agent. Any framework. One MCP tool call returns the complete identity picture.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858768"/>
            <a:ext cx="54864" cy="329184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38039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Cross-IdP fusion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40599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queries to Entra + Ping, aggregated and conflict-resolved in real time.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498848"/>
            <a:ext cx="54864" cy="329184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44439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decisions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1792" y="47000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receive allow / caution / approve / deny — and act proportionally.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Design — Clean Separation, One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804672"/>
          </a:xfrm>
          <a:prstGeom prst="rect">
            <a:avLst/>
          </a:prstGeom>
          <a:solidFill>
            <a:srgbClr val="5B21B6">
              <a:alpha val="12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457200" cy="8046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11064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453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· Python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49040" y="1197864"/>
            <a:ext cx="1115568" cy="512064"/>
          </a:xfrm>
          <a:prstGeom prst="rect">
            <a:avLst/>
          </a:prstGeom>
          <a:solidFill>
            <a:srgbClr val="5B21B6">
              <a:alpha val="25000"/>
            </a:srgbClr>
          </a:solidFill>
          <a:ln w="9525">
            <a:solidFill>
              <a:srgbClr val="5B21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197864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Orchestrator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83480" y="1197864"/>
            <a:ext cx="1115568" cy="512064"/>
          </a:xfrm>
          <a:prstGeom prst="rect">
            <a:avLst/>
          </a:prstGeom>
          <a:solidFill>
            <a:srgbClr val="5B21B6">
              <a:alpha val="25000"/>
            </a:srgbClr>
          </a:solidFill>
          <a:ln w="9525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97864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197864"/>
            <a:ext cx="1115568" cy="512064"/>
          </a:xfrm>
          <a:prstGeom prst="rect">
            <a:avLst/>
          </a:prstGeom>
          <a:solidFill>
            <a:srgbClr val="5B21B6">
              <a:alpha val="25000"/>
            </a:srgbClr>
          </a:solidFill>
          <a:ln w="9525">
            <a:solidFill>
              <a:srgbClr val="5B21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97864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Agent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52360" y="1197864"/>
            <a:ext cx="1115568" cy="512064"/>
          </a:xfrm>
          <a:prstGeom prst="rect">
            <a:avLst/>
          </a:prstGeom>
          <a:solidFill>
            <a:srgbClr val="5B21B6">
              <a:alpha val="25000"/>
            </a:srgbClr>
          </a:solidFill>
          <a:ln w="9525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197864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Agent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34840" y="1856232"/>
            <a:ext cx="0" cy="137160"/>
          </a:xfrm>
          <a:prstGeom prst="line">
            <a:avLst/>
          </a:prstGeom>
          <a:noFill/>
          <a:ln w="19050">
            <a:solidFill>
              <a:srgbClr val="8094AE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20040" y="2002536"/>
            <a:ext cx="8503920" cy="804672"/>
          </a:xfrm>
          <a:prstGeom prst="rect">
            <a:avLst/>
          </a:prstGeom>
          <a:solidFill>
            <a:srgbClr val="0D8F70"/>
          </a:solidFill>
          <a:ln w="25400">
            <a:solidFill>
              <a:srgbClr val="0D8F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002536"/>
            <a:ext cx="457200" cy="804672"/>
          </a:xfrm>
          <a:prstGeom prst="rect">
            <a:avLst/>
          </a:prstGeom>
          <a:solidFill>
            <a:srgbClr val="0D8F70"/>
          </a:solidFill>
          <a:ln w="12700">
            <a:solidFill>
              <a:srgbClr val="0D8F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00253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968" y="2057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MCP Server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TypeScript · MCP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2148840"/>
            <a:ext cx="1115568" cy="512064"/>
          </a:xfrm>
          <a:prstGeom prst="rect">
            <a:avLst/>
          </a:prstGeom>
          <a:solidFill>
            <a:srgbClr val="0A7560"/>
          </a:solidFill>
          <a:ln w="9525">
            <a:solidFill>
              <a:srgbClr val="0D8F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2148840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get_identity_context tool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83480" y="2148840"/>
            <a:ext cx="1115568" cy="512064"/>
          </a:xfrm>
          <a:prstGeom prst="rect">
            <a:avLst/>
          </a:prstGeom>
          <a:solidFill>
            <a:srgbClr val="0A7560"/>
          </a:solidFill>
          <a:ln w="9525">
            <a:solidFill>
              <a:srgbClr val="0D8F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148840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+ Risk Scorer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2148840"/>
            <a:ext cx="1115568" cy="512064"/>
          </a:xfrm>
          <a:prstGeom prst="rect">
            <a:avLst/>
          </a:prstGeom>
          <a:solidFill>
            <a:srgbClr val="0A7560"/>
          </a:solidFill>
          <a:ln w="9525">
            <a:solidFill>
              <a:srgbClr val="0D8F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148840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Tracker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52360" y="2148840"/>
            <a:ext cx="1115568" cy="512064"/>
          </a:xfrm>
          <a:prstGeom prst="rect">
            <a:avLst/>
          </a:prstGeom>
          <a:solidFill>
            <a:srgbClr val="0A7560"/>
          </a:solidFill>
          <a:ln w="9525">
            <a:solidFill>
              <a:srgbClr val="0D8F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148840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Emitter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34840" y="2807208"/>
            <a:ext cx="0" cy="137160"/>
          </a:xfrm>
          <a:prstGeom prst="line">
            <a:avLst/>
          </a:prstGeom>
          <a:noFill/>
          <a:ln w="19050">
            <a:solidFill>
              <a:srgbClr val="8094AE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320040" y="2953512"/>
            <a:ext cx="8503920" cy="804672"/>
          </a:xfrm>
          <a:prstGeom prst="rect">
            <a:avLst/>
          </a:prstGeom>
          <a:solidFill>
            <a:srgbClr val="1A56A0">
              <a:alpha val="12000"/>
            </a:srgbClr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953512"/>
            <a:ext cx="457200" cy="80467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95351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696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Connectors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6968" y="3355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Graph API · Ping PingOne API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3099816"/>
            <a:ext cx="1115568" cy="512064"/>
          </a:xfrm>
          <a:prstGeom prst="rect">
            <a:avLst/>
          </a:prstGeom>
          <a:solidFill>
            <a:srgbClr val="1A56A0">
              <a:alpha val="25000"/>
            </a:srgbClr>
          </a:solidFill>
          <a:ln w="9525">
            <a:solidFill>
              <a:srgbClr val="1A5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3099816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entra-connector.ts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83480" y="3099816"/>
            <a:ext cx="1115568" cy="512064"/>
          </a:xfrm>
          <a:prstGeom prst="rect">
            <a:avLst/>
          </a:prstGeom>
          <a:solidFill>
            <a:srgbClr val="1A56A0">
              <a:alpha val="25000"/>
            </a:srgbClr>
          </a:solidFill>
          <a:ln w="9525">
            <a:solidFill>
              <a:srgbClr val="1A5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099816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ping-connector.ts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17920" y="3099816"/>
            <a:ext cx="1115568" cy="512064"/>
          </a:xfrm>
          <a:prstGeom prst="rect">
            <a:avLst/>
          </a:prstGeom>
          <a:solidFill>
            <a:srgbClr val="1A56A0">
              <a:alpha val="25000"/>
            </a:srgbClr>
          </a:solidFill>
          <a:ln w="9525">
            <a:solidFill>
              <a:srgbClr val="1A5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3099816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layer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52360" y="3099816"/>
            <a:ext cx="1115568" cy="512064"/>
          </a:xfrm>
          <a:prstGeom prst="rect">
            <a:avLst/>
          </a:prstGeom>
          <a:solidFill>
            <a:srgbClr val="1A56A0">
              <a:alpha val="25000"/>
            </a:srgbClr>
          </a:solidFill>
          <a:ln w="9525">
            <a:solidFill>
              <a:srgbClr val="1A5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3099816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listener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34840" y="3758184"/>
            <a:ext cx="0" cy="137160"/>
          </a:xfrm>
          <a:prstGeom prst="line">
            <a:avLst/>
          </a:prstGeom>
          <a:noFill/>
          <a:ln w="19050">
            <a:solidFill>
              <a:srgbClr val="8094AE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320040" y="3904488"/>
            <a:ext cx="8503920" cy="804672"/>
          </a:xfrm>
          <a:prstGeom prst="rect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3904488"/>
            <a:ext cx="457200" cy="8046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90448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86968" y="3959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Infrastructure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86968" y="4306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· Ping Identity · SIEM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749040" y="4050792"/>
            <a:ext cx="1115568" cy="512064"/>
          </a:xfrm>
          <a:prstGeom prst="rect">
            <a:avLst/>
          </a:prstGeom>
          <a:solidFill>
            <a:srgbClr val="B45309">
              <a:alpha val="25000"/>
            </a:srgbClr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94760" y="4050792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983480" y="4050792"/>
            <a:ext cx="1115568" cy="512064"/>
          </a:xfrm>
          <a:prstGeom prst="rect">
            <a:avLst/>
          </a:prstGeom>
          <a:solidFill>
            <a:srgbClr val="B45309">
              <a:alpha val="25000"/>
            </a:srgbClr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0" y="4050792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Identity Suite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17920" y="4050792"/>
            <a:ext cx="1115568" cy="512064"/>
          </a:xfrm>
          <a:prstGeom prst="rect">
            <a:avLst/>
          </a:prstGeom>
          <a:solidFill>
            <a:srgbClr val="B45309">
              <a:alpha val="25000"/>
            </a:srgbClr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63640" y="4050792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(session cache)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452360" y="4050792"/>
            <a:ext cx="1115568" cy="512064"/>
          </a:xfrm>
          <a:prstGeom prst="rect">
            <a:avLst/>
          </a:prstGeom>
          <a:solidFill>
            <a:srgbClr val="B45309">
              <a:alpha val="25000"/>
            </a:srgbClr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98080" y="4050792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/ SIEM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0040" y="486460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L2 — ICP — is the only new component you build. L1, L3, L4 are your existing stack.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Call → 9 Steps → Complete Identity Picture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4114800" cy="658368"/>
          </a:xfrm>
          <a:prstGeom prst="rect">
            <a:avLst/>
          </a:prstGeom>
          <a:solidFill>
            <a:srgbClr val="0F2035"/>
          </a:solidFill>
          <a:ln w="190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15568"/>
            <a:ext cx="402336" cy="6583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1704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get_identity_context(upn, agent_id, action)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03120" y="1773936"/>
            <a:ext cx="0" cy="109728"/>
          </a:xfrm>
          <a:prstGeom prst="line">
            <a:avLst/>
          </a:prstGeom>
          <a:noFill/>
          <a:ln w="12700">
            <a:solidFill>
              <a:srgbClr val="5B21B6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74320" y="1883664"/>
            <a:ext cx="4114800" cy="658368"/>
          </a:xfrm>
          <a:prstGeom prst="rect">
            <a:avLst/>
          </a:prstGeom>
          <a:solidFill>
            <a:srgbClr val="0F2035"/>
          </a:solidFill>
          <a:ln w="19050">
            <a:solidFill>
              <a:srgbClr val="0D8F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83664"/>
            <a:ext cx="402336" cy="658368"/>
          </a:xfrm>
          <a:prstGeom prst="rect">
            <a:avLst/>
          </a:prstGeom>
          <a:solidFill>
            <a:srgbClr val="0D8F70"/>
          </a:solidFill>
          <a:ln w="12700">
            <a:solidFill>
              <a:srgbClr val="0D8F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83664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096" y="19385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check — hit? Return immediately (&lt;10ms)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03120" y="2542032"/>
            <a:ext cx="0" cy="109728"/>
          </a:xfrm>
          <a:prstGeom prst="line">
            <a:avLst/>
          </a:prstGeom>
          <a:noFill/>
          <a:ln w="12700">
            <a:solidFill>
              <a:srgbClr val="0D8F70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274320" y="2651760"/>
            <a:ext cx="4114800" cy="658368"/>
          </a:xfrm>
          <a:prstGeom prst="rect">
            <a:avLst/>
          </a:prstGeom>
          <a:solidFill>
            <a:srgbClr val="0F2035"/>
          </a:solidFill>
          <a:ln w="19050">
            <a:solidFill>
              <a:srgbClr val="1A5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51760"/>
            <a:ext cx="402336" cy="65836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51760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" y="27066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→ parallel fan-out to Entra Graph + Ping 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03120" y="3310128"/>
            <a:ext cx="0" cy="109728"/>
          </a:xfrm>
          <a:prstGeom prst="line">
            <a:avLst/>
          </a:prstGeom>
          <a:noFill/>
          <a:ln w="12700">
            <a:solidFill>
              <a:srgbClr val="1A56A0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74320" y="3419856"/>
            <a:ext cx="4114800" cy="658368"/>
          </a:xfrm>
          <a:prstGeom prst="rect">
            <a:avLst/>
          </a:prstGeom>
          <a:solidFill>
            <a:srgbClr val="0F2035"/>
          </a:solidFill>
          <a:ln w="19050">
            <a:solidFill>
              <a:srgbClr val="1A5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9856"/>
            <a:ext cx="402336" cy="65836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9856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096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merges: conflict resolution + most-restrictive-permanent logic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03120" y="4078224"/>
            <a:ext cx="0" cy="109728"/>
          </a:xfrm>
          <a:prstGeom prst="line">
            <a:avLst/>
          </a:prstGeom>
          <a:noFill/>
          <a:ln w="12700">
            <a:solidFill>
              <a:srgbClr val="1A56A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74320" y="4187952"/>
            <a:ext cx="4114800" cy="658368"/>
          </a:xfrm>
          <a:prstGeom prst="rect">
            <a:avLst/>
          </a:prstGeom>
          <a:solidFill>
            <a:srgbClr val="0F2035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187952"/>
            <a:ext cx="402336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87952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8096" y="42428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scorer fuses signals → composite score 0-100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1115568"/>
            <a:ext cx="4114800" cy="658368"/>
          </a:xfrm>
          <a:prstGeom prst="rect">
            <a:avLst/>
          </a:prstGeom>
          <a:solidFill>
            <a:srgbClr val="0F2035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115568"/>
            <a:ext cx="402336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115568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48656" y="11704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engine maps score → allow / caution / approve / deny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0" y="1773936"/>
            <a:ext cx="0" cy="109728"/>
          </a:xfrm>
          <a:prstGeom prst="line">
            <a:avLst/>
          </a:prstGeom>
          <a:noFill/>
          <a:ln w="12700">
            <a:solidFill>
              <a:srgbClr val="E8A020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754880" y="1883664"/>
            <a:ext cx="4114800" cy="658368"/>
          </a:xfrm>
          <a:prstGeom prst="rect">
            <a:avLst/>
          </a:prstGeom>
          <a:solidFill>
            <a:srgbClr val="0F2035"/>
          </a:solidFill>
          <a:ln w="19050">
            <a:solidFill>
              <a:srgbClr val="0D8F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883664"/>
            <a:ext cx="402336" cy="658368"/>
          </a:xfrm>
          <a:prstGeom prst="rect">
            <a:avLst/>
          </a:prstGeom>
          <a:solidFill>
            <a:srgbClr val="0D8F70"/>
          </a:solidFill>
          <a:ln w="12700">
            <a:solidFill>
              <a:srgbClr val="0D8F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883664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248656" y="19385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tracker appends delegation log entry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83680" y="2542032"/>
            <a:ext cx="0" cy="109728"/>
          </a:xfrm>
          <a:prstGeom prst="line">
            <a:avLst/>
          </a:prstGeom>
          <a:noFill/>
          <a:ln w="12700">
            <a:solidFill>
              <a:srgbClr val="0D8F70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4754880" y="2651760"/>
            <a:ext cx="4114800" cy="658368"/>
          </a:xfrm>
          <a:prstGeom prst="rect">
            <a:avLst/>
          </a:prstGeom>
          <a:solidFill>
            <a:srgbClr val="0F2035"/>
          </a:solidFill>
          <a:ln w="19050">
            <a:solidFill>
              <a:srgbClr val="0D8F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651760"/>
            <a:ext cx="402336" cy="658368"/>
          </a:xfrm>
          <a:prstGeom prst="rect">
            <a:avLst/>
          </a:prstGeom>
          <a:solidFill>
            <a:srgbClr val="0D8F70"/>
          </a:solidFill>
          <a:ln w="12700">
            <a:solidFill>
              <a:srgbClr val="0D8F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651760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248656" y="27066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emitter writes structured event to SIEM sink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83680" y="3310128"/>
            <a:ext cx="0" cy="109728"/>
          </a:xfrm>
          <a:prstGeom prst="line">
            <a:avLst/>
          </a:prstGeom>
          <a:noFill/>
          <a:ln w="12700">
            <a:solidFill>
              <a:srgbClr val="0D8F70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4754880" y="3419856"/>
            <a:ext cx="4114800" cy="658368"/>
          </a:xfrm>
          <a:prstGeom prst="rect">
            <a:avLst/>
          </a:prstGeom>
          <a:solidFill>
            <a:srgbClr val="0F203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419856"/>
            <a:ext cx="402336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419856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248656" y="34747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context payload returned → agent acts proportionally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0D8F70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78231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Target: Steps 1–9 complete in under 150ms (p95) — never the bottleneck in your agent chain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PAYLOAD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Agent Receives — One Unified JSON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5029200" cy="397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0607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02336" y="12435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"user_upn": "raj@acme.com",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02336" y="14264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"recommended_posture": "proceed-with-caution",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" y="16093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"risk_score":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17922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"composite_score": 62,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" y="1975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"signals":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" y="21579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"location_anomaly": true,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2336" y="23408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"privilege_escalated": true,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25237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E8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"mfa_satisfied": true,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27066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E8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"device_compliant": true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28895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" y="3072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32552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"entitlements": {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34381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"temp_grants": ["Finance-Admin-Temp"],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36210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"scopes_for_action": ["read:payroll"]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2336" y="38039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" y="39867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"delegation_chain": {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" y="41696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"chain_depth": 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43525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2336" y="45354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40680" y="1024128"/>
            <a:ext cx="3429000" cy="640080"/>
          </a:xfrm>
          <a:prstGeom prst="rect">
            <a:avLst/>
          </a:prstGeom>
          <a:solidFill>
            <a:srgbClr val="F0F5FB"/>
          </a:solidFill>
          <a:ln w="19050">
            <a:solidFill>
              <a:srgbClr val="D640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40680" y="1024128"/>
            <a:ext cx="64008" cy="6400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1060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Posture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1298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recommended action — no policy parsing required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40680" y="1719072"/>
            <a:ext cx="3429000" cy="640080"/>
          </a:xfrm>
          <a:prstGeom prst="rect">
            <a:avLst/>
          </a:prstGeom>
          <a:solidFill>
            <a:srgbClr val="F0F5FB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40680" y="1719072"/>
            <a:ext cx="64008" cy="6400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1755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Risk Score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1993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composite, fused from Entra + Ping signals simultaneously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40680" y="2487168"/>
            <a:ext cx="3429000" cy="640080"/>
          </a:xfrm>
          <a:prstGeom prst="rect">
            <a:avLst/>
          </a:prstGeom>
          <a:solidFill>
            <a:srgbClr val="F0F5FB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40680" y="2487168"/>
            <a:ext cx="64008" cy="6400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523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Temp Grants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77840" y="27614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privileges from Ping — visible to agents for the first time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40680" y="3310128"/>
            <a:ext cx="3429000" cy="640080"/>
          </a:xfrm>
          <a:prstGeom prst="rect">
            <a:avLst/>
          </a:prstGeom>
          <a:solidFill>
            <a:srgbClr val="F0F5FB"/>
          </a:solidFill>
          <a:ln w="19050">
            <a:solidFill>
              <a:srgbClr val="0E9F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40680" y="3310128"/>
            <a:ext cx="64008" cy="64008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346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Chain Depth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77840" y="3584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hops from human. Depth ≥ 3 raises risk score automatically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03520" y="1344168"/>
            <a:ext cx="137160" cy="0"/>
          </a:xfrm>
          <a:prstGeom prst="line">
            <a:avLst/>
          </a:prstGeom>
          <a:noFill/>
          <a:ln w="12700">
            <a:solidFill>
              <a:srgbClr val="D64045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303520" y="2039112"/>
            <a:ext cx="137160" cy="0"/>
          </a:xfrm>
          <a:prstGeom prst="line">
            <a:avLst/>
          </a:prstGeom>
          <a:noFill/>
          <a:ln w="12700">
            <a:solidFill>
              <a:srgbClr val="E8A02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303520" y="2807208"/>
            <a:ext cx="137160" cy="0"/>
          </a:xfrm>
          <a:prstGeom prst="line">
            <a:avLst/>
          </a:prstGeom>
          <a:noFill/>
          <a:ln w="12700">
            <a:solidFill>
              <a:srgbClr val="5B21B6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303520" y="3630168"/>
            <a:ext cx="137160" cy="0"/>
          </a:xfrm>
          <a:prstGeom prst="line">
            <a:avLst/>
          </a:prstGeom>
          <a:noFill/>
          <a:ln w="12700">
            <a:solidFill>
              <a:srgbClr val="0E9F7E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cache_ttl_seconds is risk-proportional: score 62 → TTL 60s (re-evaluate frequently). Score 10 → TTL 300s.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Signal Fusion → Posture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512064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789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53512" y="1078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07992" y="10789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44752"/>
            <a:ext cx="64008" cy="38404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anomaly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07792" y="14813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572768"/>
            <a:ext cx="685800" cy="128016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48132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865376"/>
            <a:ext cx="5120640" cy="384048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865376"/>
            <a:ext cx="64008" cy="38404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0195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escalated recently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07792" y="19019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51960" y="1993392"/>
            <a:ext cx="548640" cy="128016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90195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286000"/>
            <a:ext cx="6400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32257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age &gt; 60 min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07792" y="232257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2414016"/>
            <a:ext cx="411480" cy="12801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32257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706624"/>
            <a:ext cx="5120640" cy="384048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706624"/>
            <a:ext cx="6400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7432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depth ≥ 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07792" y="2743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51960" y="2834640"/>
            <a:ext cx="411480" cy="12801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74320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127248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127248"/>
            <a:ext cx="64008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16382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non-compliant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907792" y="31638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51960" y="3255264"/>
            <a:ext cx="27432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16382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3547872"/>
            <a:ext cx="5120640" cy="384048"/>
          </a:xfrm>
          <a:prstGeom prst="rect">
            <a:avLst/>
          </a:prstGeom>
          <a:solidFill>
            <a:srgbClr val="F0F5FB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547872"/>
            <a:ext cx="64008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58444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policy non-compliant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907792" y="35844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51960" y="3675888"/>
            <a:ext cx="27432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58444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968496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3968496"/>
            <a:ext cx="64008" cy="384048"/>
          </a:xfrm>
          <a:prstGeom prst="rect">
            <a:avLst/>
          </a:prstGeom>
          <a:solidFill>
            <a:srgbClr val="8094AE"/>
          </a:solidFill>
          <a:ln w="12700">
            <a:solidFill>
              <a:srgbClr val="8094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00507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sessions &gt; 5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907792" y="40050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51960" y="4096512"/>
            <a:ext cx="137160" cy="128016"/>
          </a:xfrm>
          <a:prstGeom prst="rect">
            <a:avLst/>
          </a:prstGeom>
          <a:solidFill>
            <a:srgbClr val="8094AE"/>
          </a:solidFill>
          <a:ln w="12700">
            <a:solidFill>
              <a:srgbClr val="8094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400507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0" y="98755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Posture → Agent Behaviour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0" y="1371600"/>
            <a:ext cx="3429000" cy="749808"/>
          </a:xfrm>
          <a:prstGeom prst="rect">
            <a:avLst/>
          </a:prstGeom>
          <a:solidFill>
            <a:srgbClr val="E8F8EE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486400" y="1371600"/>
            <a:ext cx="64008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96128" y="1408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37960" y="13898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596128" y="17556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normally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0" y="2286000"/>
            <a:ext cx="3429000" cy="749808"/>
          </a:xfrm>
          <a:prstGeom prst="rect">
            <a:avLst/>
          </a:prstGeom>
          <a:solidFill>
            <a:srgbClr val="FFF8E8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486400" y="2286000"/>
            <a:ext cx="6400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96128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– 55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537960" y="23042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596128" y="26700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caution → prefer reads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486400" y="3200400"/>
            <a:ext cx="3429000" cy="749808"/>
          </a:xfrm>
          <a:prstGeom prst="rect">
            <a:avLst/>
          </a:prstGeom>
          <a:solidFill>
            <a:srgbClr val="FFF0E8"/>
          </a:solidFill>
          <a:ln w="19050">
            <a:solidFill>
              <a:srgbClr val="D85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486400" y="3200400"/>
            <a:ext cx="64008" cy="749808"/>
          </a:xfrm>
          <a:prstGeom prst="rect">
            <a:avLst/>
          </a:prstGeom>
          <a:solidFill>
            <a:srgbClr val="D85A00"/>
          </a:solidFill>
          <a:ln w="12700">
            <a:solidFill>
              <a:srgbClr val="D85A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96128" y="3236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– 80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537960" y="32186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596128" y="3584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→ request human approval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486400" y="4114800"/>
            <a:ext cx="3429000" cy="749808"/>
          </a:xfrm>
          <a:prstGeom prst="rect">
            <a:avLst/>
          </a:prstGeom>
          <a:solidFill>
            <a:srgbClr val="FFF0F0"/>
          </a:solidFill>
          <a:ln w="19050">
            <a:solidFill>
              <a:srgbClr val="D640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486400" y="4114800"/>
            <a:ext cx="64008" cy="74980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96128" y="4151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– 100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537960" y="4133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596128" y="44988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 → alert SIEM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DECISION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ICP-Aware Agent — Four Decision Branches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93976" cy="4005072"/>
          </a:xfrm>
          <a:prstGeom prst="rect">
            <a:avLst/>
          </a:prstGeom>
          <a:solidFill>
            <a:srgbClr val="F3F0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093976" cy="274320"/>
          </a:xfrm>
          <a:prstGeom prst="rect">
            <a:avLst/>
          </a:prstGeom>
          <a:solidFill>
            <a:srgbClr val="2C3E70"/>
          </a:solidFill>
          <a:ln w="12700">
            <a:solidFill>
              <a:srgbClr val="2C3E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601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2093976" cy="4005072"/>
          </a:xfrm>
          <a:prstGeom prst="rect">
            <a:avLst/>
          </a:prstGeom>
          <a:solidFill>
            <a:srgbClr val="E8F7F3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960120"/>
            <a:ext cx="2093976" cy="274320"/>
          </a:xfrm>
          <a:prstGeom prst="rect">
            <a:avLst/>
          </a:prstGeom>
          <a:solidFill>
            <a:srgbClr val="2C3E70"/>
          </a:solidFill>
          <a:ln w="12700">
            <a:solidFill>
              <a:srgbClr val="2C3E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9601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1819656" cy="4005072"/>
          </a:xfrm>
          <a:prstGeom prst="rect">
            <a:avLst/>
          </a:prstGeom>
          <a:solidFill>
            <a:srgbClr val="FFF9E8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960120"/>
            <a:ext cx="1819656" cy="274320"/>
          </a:xfrm>
          <a:prstGeom prst="rect">
            <a:avLst/>
          </a:prstGeom>
          <a:solidFill>
            <a:srgbClr val="2C3E70"/>
          </a:solidFill>
          <a:ln w="12700">
            <a:solidFill>
              <a:srgbClr val="2C3E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9601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960120"/>
            <a:ext cx="1865376" cy="4005072"/>
          </a:xfrm>
          <a:prstGeom prst="rect">
            <a:avLst/>
          </a:prstGeom>
          <a:solidFill>
            <a:srgbClr val="F0F5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960120"/>
            <a:ext cx="1865376" cy="274320"/>
          </a:xfrm>
          <a:prstGeom prst="rect">
            <a:avLst/>
          </a:prstGeom>
          <a:solidFill>
            <a:srgbClr val="2C3E70"/>
          </a:solidFill>
          <a:ln w="12700">
            <a:solidFill>
              <a:srgbClr val="2C3E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9601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1371600"/>
            <a:ext cx="201168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0624" y="137160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task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calls get_identity_context()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59152" y="1572768"/>
            <a:ext cx="228600" cy="0"/>
          </a:xfrm>
          <a:prstGeom prst="line">
            <a:avLst/>
          </a:prstGeom>
          <a:noFill/>
          <a:ln w="19050">
            <a:solidFill>
              <a:srgbClr val="8094AE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633472" y="1371600"/>
            <a:ext cx="201168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0D8F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06624" y="137160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queries Entra + Ping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(parallel, &lt;100ms each)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45152" y="1572768"/>
            <a:ext cx="228600" cy="0"/>
          </a:xfrm>
          <a:prstGeom prst="line">
            <a:avLst/>
          </a:prstGeom>
          <a:noFill/>
          <a:ln w="19050">
            <a:solidFill>
              <a:srgbClr val="8094AE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919472" y="1371600"/>
            <a:ext cx="716890" cy="512064"/>
          </a:xfrm>
          <a:prstGeom prst="rect">
            <a:avLst/>
          </a:prstGeom>
          <a:solidFill>
            <a:srgbClr val="FFF9E8"/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371600"/>
            <a:ext cx="71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39712" y="1627632"/>
            <a:ext cx="201168" cy="0"/>
          </a:xfrm>
          <a:prstGeom prst="line">
            <a:avLst/>
          </a:prstGeom>
          <a:noFill/>
          <a:ln w="19050">
            <a:solidFill>
              <a:srgbClr val="8094AE"/>
            </a:solidFill>
            <a:prstDash val="solid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6656832" y="14447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31152" y="1371600"/>
            <a:ext cx="1938528" cy="402336"/>
          </a:xfrm>
          <a:prstGeom prst="rect">
            <a:avLst/>
          </a:prstGeom>
          <a:solidFill>
            <a:srgbClr val="E8F8EE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04304" y="1371600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Proceed normally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scoped entitlements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40680" y="1883664"/>
            <a:ext cx="0" cy="45720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5486400" y="1938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19472" y="2340864"/>
            <a:ext cx="1828800" cy="457200"/>
          </a:xfrm>
          <a:prstGeom prst="rect">
            <a:avLst/>
          </a:prstGeom>
          <a:solidFill>
            <a:srgbClr val="FFF8E8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92624" y="234086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Inject caution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into prompt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reads over writes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48272" y="2569464"/>
            <a:ext cx="201168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6949440" y="2395728"/>
            <a:ext cx="1828800" cy="347472"/>
          </a:xfrm>
          <a:prstGeom prst="rect">
            <a:avLst/>
          </a:prstGeom>
          <a:solidFill>
            <a:srgbClr val="FFF8E8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022592" y="239572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carefully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PENDING WRITEs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40680" y="1883664"/>
            <a:ext cx="0" cy="1298448"/>
          </a:xfrm>
          <a:prstGeom prst="line">
            <a:avLst/>
          </a:prstGeom>
          <a:noFill/>
          <a:ln w="19050">
            <a:solidFill>
              <a:srgbClr val="D85A00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5486400" y="27432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19472" y="3182112"/>
            <a:ext cx="1828800" cy="457200"/>
          </a:xfrm>
          <a:prstGeom prst="rect">
            <a:avLst/>
          </a:prstGeom>
          <a:solidFill>
            <a:srgbClr val="FFF0E8"/>
          </a:solidFill>
          <a:ln w="19050">
            <a:solidFill>
              <a:srgbClr val="D85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92624" y="318211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Halt 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human supervisor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explicit approval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48272" y="3410712"/>
            <a:ext cx="201168" cy="0"/>
          </a:xfrm>
          <a:prstGeom prst="line">
            <a:avLst/>
          </a:prstGeom>
          <a:noFill/>
          <a:ln w="19050">
            <a:solidFill>
              <a:srgbClr val="D85A00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6949440" y="3255264"/>
            <a:ext cx="1828800" cy="329184"/>
          </a:xfrm>
          <a:prstGeom prst="rect">
            <a:avLst/>
          </a:prstGeom>
          <a:solidFill>
            <a:srgbClr val="FFF0E8"/>
          </a:solidFill>
          <a:ln w="19050">
            <a:solidFill>
              <a:srgbClr val="D85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22592" y="325526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or abort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decision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40680" y="1883664"/>
            <a:ext cx="0" cy="2103120"/>
          </a:xfrm>
          <a:prstGeom prst="line">
            <a:avLst/>
          </a:prstGeom>
          <a:noFill/>
          <a:ln w="19050">
            <a:solidFill>
              <a:srgbClr val="D64045"/>
            </a:solidFill>
            <a:prstDash val="solid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5486400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19472" y="3986784"/>
            <a:ext cx="1828800" cy="457200"/>
          </a:xfrm>
          <a:prstGeom prst="rect">
            <a:avLst/>
          </a:prstGeom>
          <a:solidFill>
            <a:srgbClr val="FFF0F0"/>
          </a:solidFill>
          <a:ln w="19050">
            <a:solidFill>
              <a:srgbClr val="D640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992624" y="398678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TaskDeniedError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 immediately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48272" y="4215384"/>
            <a:ext cx="201168" cy="0"/>
          </a:xfrm>
          <a:prstGeom prst="line">
            <a:avLst/>
          </a:prstGeom>
          <a:noFill/>
          <a:ln w="19050">
            <a:solidFill>
              <a:srgbClr val="D64045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6949440" y="4059936"/>
            <a:ext cx="1828800" cy="329184"/>
          </a:xfrm>
          <a:prstGeom prst="rect">
            <a:avLst/>
          </a:prstGeom>
          <a:solidFill>
            <a:srgbClr val="FFF0F0"/>
          </a:solidFill>
          <a:ln w="19050">
            <a:solidFill>
              <a:srgbClr val="D640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022592" y="405993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audit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SIEM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782312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— regardless of outcome — emits a structured audit event with chain depth, risk score, posture, and action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657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Files That Make ICP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97680" cy="1938528"/>
          </a:xfrm>
          <a:prstGeom prst="rect">
            <a:avLst/>
          </a:prstGeom>
          <a:solidFill>
            <a:srgbClr val="161B22"/>
          </a:solidFill>
          <a:ln w="1905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9768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24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icp_tool.py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0424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CrewAI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ICPContextTool(BaseTool):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563624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"get_identity_context"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173736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"ALWAYS call before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911096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any action touching data..."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_run(self, user_upn, agent_id,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" y="2258568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requested_action, ...):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2432304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httpx.post(ICP_URL,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60604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json={...}, timeout=3.0)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81728" y="1005840"/>
            <a:ext cx="4297680" cy="1938528"/>
          </a:xfrm>
          <a:prstGeom prst="rect">
            <a:avLst/>
          </a:prstGeom>
          <a:solidFill>
            <a:srgbClr val="161B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1005840"/>
            <a:ext cx="429768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1005840"/>
            <a:ext cx="54864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024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icp_decision.py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50608" y="10424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Posture Engine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91456" y="1389888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decision.posture: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91456" y="1563624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Posture.DENY: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91456" y="173736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TaskDeniedError(reasons)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91456" y="1911096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Posture.REQUIRE_APPROVAL: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91456" y="2084832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approved = approval_fn()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91456" y="2258568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Posture.CAUTION: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91456" y="2432304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inject_caution_to_prompt()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91456" y="260604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E8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Posture.ALLOW: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91456" y="2779776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E8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  # Green light — go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127248"/>
            <a:ext cx="4297680" cy="1938528"/>
          </a:xfrm>
          <a:prstGeom prst="rect">
            <a:avLst/>
          </a:prstGeom>
          <a:solidFill>
            <a:srgbClr val="161B22"/>
          </a:solidFill>
          <a:ln w="19050">
            <a:solidFill>
              <a:srgbClr val="1A5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127248"/>
            <a:ext cx="429768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127248"/>
            <a:ext cx="54864" cy="32918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31455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aggregator.ts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0" y="3163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Aggregation 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4048" y="3511296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[entra, ping] = await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4048" y="3685032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Promise.all([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4048" y="3858768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entraConnector.getContext(upn),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4048" y="4032504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pingConnector.getContext(upn)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4048" y="420624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4048" y="4379976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merge(entra, ping, {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84048" y="4553712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E8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entitlements: "most-restrictive",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4048" y="4727448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risk: "max"  // always worse case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4048" y="4901184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81728" y="3127248"/>
            <a:ext cx="4297680" cy="1938528"/>
          </a:xfrm>
          <a:prstGeom prst="rect">
            <a:avLst/>
          </a:prstGeom>
          <a:solidFill>
            <a:srgbClr val="161B22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81728" y="3127248"/>
            <a:ext cx="429768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81728" y="3127248"/>
            <a:ext cx="54864" cy="32918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9744" y="31455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scorer.ts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50608" y="3163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Risk Scoring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91456" y="3511296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score = [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91456" y="3685032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signals.location_anomaly ? 25 : 0,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91456" y="3858768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signals.privilege_escalated ? 20:0,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91456" y="4032504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signals.mfa_stale ? 15 : 0,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91456" y="420624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chainDepth &gt;= 3 ? 15 : 0,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91456" y="4379976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!signals.device_compliant ? 10:0,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91456" y="4553712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].reduce((a, b) =&gt; a + b, 0);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91456" y="4727448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E8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scoreToPosture(score);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680960" y="2743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82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SCENARIO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65760" y="43891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Situation — Protected by ICP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115568"/>
            <a:ext cx="8595360" cy="457200"/>
          </a:xfrm>
          <a:prstGeom prst="rect">
            <a:avLst/>
          </a:prstGeom>
          <a:solidFill>
            <a:srgbClr val="0A2218"/>
          </a:solidFill>
          <a:ln w="12700">
            <a:solidFill>
              <a:srgbClr val="0A22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Raj Kumar  ·  Chennai  ·  Finance-Admin-Temp active  ·  CrewAI workflow triggered  — All same signals as before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737360"/>
            <a:ext cx="777240" cy="438912"/>
          </a:xfrm>
          <a:prstGeom prst="rect">
            <a:avLst/>
          </a:prstGeom>
          <a:solidFill>
            <a:srgbClr val="0A2218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7373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09:38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" y="2176272"/>
            <a:ext cx="0" cy="219456"/>
          </a:xfrm>
          <a:prstGeom prst="line">
            <a:avLst/>
          </a:prstGeom>
          <a:noFill/>
          <a:ln w="19050">
            <a:solidFill>
              <a:srgbClr val="1A4A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1737360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get_identity_context() via ICP MCP tool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70432" y="199339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any resource. This is the first thing that happens — always.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395728"/>
            <a:ext cx="777240" cy="438912"/>
          </a:xfrm>
          <a:prstGeom prst="rect">
            <a:avLst/>
          </a:prstGeom>
          <a:solidFill>
            <a:srgbClr val="0A2218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39572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+90ms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0080" y="2834640"/>
            <a:ext cx="0" cy="219456"/>
          </a:xfrm>
          <a:prstGeom prst="line">
            <a:avLst/>
          </a:prstGeom>
          <a:noFill/>
          <a:ln w="19050">
            <a:solidFill>
              <a:srgbClr val="1A4A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2395728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fans out to Entra + Ping in parallel (91ms total)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70432" y="2651760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score 62, location_anomaly + privilege_escalated = proceed-with-caution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054096"/>
            <a:ext cx="777240" cy="438912"/>
          </a:xfrm>
          <a:prstGeom prst="rect">
            <a:avLst/>
          </a:prstGeom>
          <a:solidFill>
            <a:srgbClr val="0A221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0540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+91ms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40080" y="3493008"/>
            <a:ext cx="0" cy="219456"/>
          </a:xfrm>
          <a:prstGeom prst="line">
            <a:avLst/>
          </a:prstGeom>
          <a:noFill/>
          <a:ln w="19050">
            <a:solidFill>
              <a:srgbClr val="1A4A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70432" y="3054096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context injected into agent reasoning prompt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70432" y="3310128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now knows: "You are in an elevated-risk session. Prefer reads. Log intended writes as PENDING WRITE."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3712464"/>
            <a:ext cx="777240" cy="438912"/>
          </a:xfrm>
          <a:prstGeom prst="rect">
            <a:avLst/>
          </a:prstGeom>
          <a:solidFill>
            <a:srgbClr val="0A221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71246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09:40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40080" y="4151376"/>
            <a:ext cx="0" cy="219456"/>
          </a:xfrm>
          <a:prstGeom prst="line">
            <a:avLst/>
          </a:prstGeom>
          <a:noFill/>
          <a:ln w="19050">
            <a:solidFill>
              <a:srgbClr val="1A4A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70432" y="371246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summarises payload intent → PENDING WRITE flagged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70432" y="3968496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routes the write summary to Raj's manager for 1-click approval. 30 second interruption.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4370832"/>
            <a:ext cx="777240" cy="438912"/>
          </a:xfrm>
          <a:prstGeom prst="rect">
            <a:avLst/>
          </a:prstGeom>
          <a:solidFill>
            <a:srgbClr val="0A2218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3708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70432" y="437083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approves. Agent completes task under audit trail.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70432" y="462686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 logged: orchestrator → data-agent → action. Risk score at time of action: 62. Posture: approved.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0A4A28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" y="48371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Result: Task completed. Full audit trail. No unnecessary block. CISO can answer exactly what happened, when, and at what risk level.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BLOCKED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Credential Attack — Stopped in 200ms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663440" cy="292608"/>
          </a:xfrm>
          <a:prstGeom prst="rect">
            <a:avLst/>
          </a:prstGeom>
          <a:solidFill>
            <a:srgbClr val="3A0A0A"/>
          </a:solidFill>
          <a:ln w="6350">
            <a:solidFill>
              <a:srgbClr val="D6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SEQUENCE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35608"/>
            <a:ext cx="4663440" cy="457200"/>
          </a:xfrm>
          <a:prstGeom prst="rect">
            <a:avLst/>
          </a:prstGeom>
          <a:solidFill>
            <a:srgbClr val="220808"/>
          </a:solidFill>
          <a:ln w="6350">
            <a:solidFill>
              <a:srgbClr val="4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3560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14630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Priya's credentials phished overnight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663440" cy="457200"/>
          </a:xfrm>
          <a:prstGeom prst="rect">
            <a:avLst/>
          </a:prstGeom>
          <a:solidFill>
            <a:srgbClr val="220808"/>
          </a:solidFill>
          <a:ln w="6350">
            <a:solidFill>
              <a:srgbClr val="4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659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" y="19933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logs in from Singapore at 3 AM (Priya: always Mumbai)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96312"/>
            <a:ext cx="4663440" cy="457200"/>
          </a:xfrm>
          <a:prstGeom prst="rect">
            <a:avLst/>
          </a:prstGeom>
          <a:solidFill>
            <a:srgbClr val="220808"/>
          </a:solidFill>
          <a:ln w="6350">
            <a:solidFill>
              <a:srgbClr val="4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9631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" y="252374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script triggers CrewAI HR data exfiltration workflow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26664"/>
            <a:ext cx="4663440" cy="457200"/>
          </a:xfrm>
          <a:prstGeom prst="rect">
            <a:avLst/>
          </a:prstGeom>
          <a:solidFill>
            <a:srgbClr val="220808"/>
          </a:solidFill>
          <a:ln w="6350">
            <a:solidFill>
              <a:srgbClr val="4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2666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" y="305409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4-hop agent chain, no human in loop, unrecognised device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557016"/>
            <a:ext cx="4663440" cy="457200"/>
          </a:xfrm>
          <a:prstGeom prst="rect">
            <a:avLst/>
          </a:prstGeom>
          <a:solidFill>
            <a:srgbClr val="220808"/>
          </a:solidFill>
          <a:ln w="6350">
            <a:solidFill>
              <a:srgbClr val="4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55701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" y="358444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get_identity_context() — ICP intercepts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1097280"/>
            <a:ext cx="3749040" cy="292608"/>
          </a:xfrm>
          <a:prstGeom prst="rect">
            <a:avLst/>
          </a:prstGeom>
          <a:solidFill>
            <a:srgbClr val="0A3A1A"/>
          </a:solidFill>
          <a:ln w="6350">
            <a:solidFill>
              <a:srgbClr val="0E9F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115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RESPONSE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14447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breakdown: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17007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anomaly (Singapore vs Mumbai)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38160" y="17007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0482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age &gt; 4 hours (stale)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38160" y="20482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2395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non-compliant (unknown device)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38160" y="23957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7432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depth: 4 (no human checkpoint)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38160" y="27432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09067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 policy match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38160" y="30906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0640" y="3493008"/>
            <a:ext cx="3749040" cy="822960"/>
          </a:xfrm>
          <a:prstGeom prst="rect">
            <a:avLst/>
          </a:prstGeom>
          <a:solidFill>
            <a:srgbClr val="3A0A0A"/>
          </a:solidFill>
          <a:ln w="25400">
            <a:solidFill>
              <a:srgbClr val="D640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12080" y="3547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Score: 91  →  DENY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212080" y="38770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TaskDeniedError raised in 200ms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4535424"/>
            <a:ext cx="8595360" cy="457200"/>
          </a:xfrm>
          <a:prstGeom prst="rect">
            <a:avLst/>
          </a:prstGeom>
          <a:solidFill>
            <a:srgbClr val="0A2E0A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→ ✅  Exfiltration attempt: ZERO DATA EXTRACTED · High-severity alert fired to SIEM in 200ms · Full chain logged for forensics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Cannot Be Easily Replicated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4251960" cy="73152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1673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12618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Cross-Vendor by Design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and Entra are competitors. Neither will build deep integration with the other's risk signals. ICP is vendor-neutral — it reads both without allegiance to either.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81728" y="1078992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1078992"/>
            <a:ext cx="4251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316736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9824" y="12618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Chain Tracking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64608" y="1737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 (CrewAI, LangGraph, AutoGen) don't have identity. Identity vendors don't have agent depth. ICP lives at exactly that intersection.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944368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944368"/>
            <a:ext cx="425196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211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2416" y="312724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Years IAM Domain Depth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360273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where Ping and Entra don't talk to each other — and what enterprise security teams actually need — is not replicable from API docs alone.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81728" y="2944368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81728" y="2944368"/>
            <a:ext cx="4251960" cy="73152"/>
          </a:xfrm>
          <a:prstGeom prst="rect">
            <a:avLst/>
          </a:prstGeom>
          <a:solidFill>
            <a:srgbClr val="D85A00"/>
          </a:solidFill>
          <a:ln w="12700">
            <a:solidFill>
              <a:srgbClr val="D85A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18211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9824" y="312724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 as Agents Scale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64608" y="360273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AI agent deployed in the enterprise needs ICP more, not less. Value compounds as agent footprint grows — unlike a point solution.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82896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Agent Gateway + Entra Agent ID are real. They commoditise agent registration. They do not commoditise what ICP uniquely builds.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 5 Weeks — One Developer, Two IdPs, Real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960120" cy="676656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298448" y="1051560"/>
            <a:ext cx="7516368" cy="676656"/>
          </a:xfrm>
          <a:prstGeom prst="rect">
            <a:avLst/>
          </a:prstGeom>
          <a:solidFill>
            <a:srgbClr val="F8FA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051560"/>
            <a:ext cx="54864" cy="676656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6464" y="1088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IdP Connectors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26464" y="138074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entra-connector.ts → MS Graph auth, identity, groups, CA signals   · ping-connector.ts → PingOne API, risk scores, MFA state, sessions   · Unit tests with recorded API responses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960120" cy="676656"/>
          </a:xfrm>
          <a:prstGeom prst="rect">
            <a:avLst/>
          </a:prstGeom>
          <a:solidFill>
            <a:srgbClr val="0D8F70"/>
          </a:solidFill>
          <a:ln w="12700">
            <a:solidFill>
              <a:srgbClr val="0D8F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47088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98448" y="1847088"/>
            <a:ext cx="7516368" cy="676656"/>
          </a:xfrm>
          <a:prstGeom prst="rect">
            <a:avLst/>
          </a:prstGeom>
          <a:solidFill>
            <a:srgbClr val="F8FA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8448" y="1847088"/>
            <a:ext cx="54864" cy="676656"/>
          </a:xfrm>
          <a:prstGeom prst="rect">
            <a:avLst/>
          </a:prstGeom>
          <a:solidFill>
            <a:srgbClr val="0D8F70"/>
          </a:solidFill>
          <a:ln w="12700">
            <a:solidFill>
              <a:srgbClr val="0D8F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6464" y="1883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Core ICP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26464" y="21762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aggregator.ts → merge + conflict resolution logic   · scorer.ts → weighted risk scoring + posture mapping   · mcp-server.ts → expose get_identity_context over MCP stdio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960120" cy="67665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42616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298448" y="2642616"/>
            <a:ext cx="7516368" cy="676656"/>
          </a:xfrm>
          <a:prstGeom prst="rect">
            <a:avLst/>
          </a:prstGeom>
          <a:solidFill>
            <a:srgbClr val="F8FA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8448" y="2642616"/>
            <a:ext cx="54864" cy="67665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26464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Chain &amp; Audit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26464" y="29718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chain-tracker.ts → delegation chain append-only log   · audit-emitter.ts → structured event to SIEM sink   · Redis cache layer with risk-proportional TTL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438144"/>
            <a:ext cx="960120" cy="6766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38144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298448" y="3438144"/>
            <a:ext cx="7516368" cy="676656"/>
          </a:xfrm>
          <a:prstGeom prst="rect">
            <a:avLst/>
          </a:prstGeom>
          <a:solidFill>
            <a:srgbClr val="F8FA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98448" y="3438144"/>
            <a:ext cx="54864" cy="6766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26464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2b · CrewAI Integration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26464" y="37673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icp_tool.py → BaseTool wrapper   · icp_decision.py → enforce_decision + posture branches   · icp_prompt_injector.py → caution context builder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233672"/>
            <a:ext cx="960120" cy="676656"/>
          </a:xfrm>
          <a:prstGeom prst="rect">
            <a:avLst/>
          </a:prstGeom>
          <a:solidFill>
            <a:srgbClr val="D85A00"/>
          </a:solidFill>
          <a:ln w="12700">
            <a:solidFill>
              <a:srgbClr val="D85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33672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4-5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298448" y="4233672"/>
            <a:ext cx="7516368" cy="676656"/>
          </a:xfrm>
          <a:prstGeom prst="rect">
            <a:avLst/>
          </a:prstGeom>
          <a:solidFill>
            <a:srgbClr val="F8FA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98448" y="4233672"/>
            <a:ext cx="54864" cy="676656"/>
          </a:xfrm>
          <a:prstGeom prst="rect">
            <a:avLst/>
          </a:prstGeom>
          <a:solidFill>
            <a:srgbClr val="D85A00"/>
          </a:solidFill>
          <a:ln w="12700">
            <a:solidFill>
              <a:srgbClr val="D85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26464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Production Hardening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26464" y="45628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Circuit breaker (ICP failsafe)   · Ping webhooks → cache invalidation   · Key Vault secrets + monitoring dashboards   · Load test: 200 sessions, p95 &lt; 150ms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5029200"/>
            <a:ext cx="8595360" cy="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9011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 for each phase: green unit tests + integration test matching expected payload schema + load test passing at target latency.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Stakeholder Gains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834640" cy="3611880"/>
          </a:xfrm>
          <a:prstGeom prst="rect">
            <a:avLst/>
          </a:prstGeom>
          <a:solidFill>
            <a:srgbClr val="0F2236"/>
          </a:solidFill>
          <a:ln w="19050">
            <a:solidFill>
              <a:srgbClr val="D640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2834640" cy="47548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1338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" y="1700784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D64045">
                <a:alpha val="5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8912" y="1700784"/>
            <a:ext cx="45720" cy="56692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3736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under zero-trust posture for the first time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8912" y="2377440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D64045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" y="2377440"/>
            <a:ext cx="45720" cy="56692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414016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per agent action — compliance-ready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8912" y="3054096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D64045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" y="3054096"/>
            <a:ext cx="45720" cy="56692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090672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SIEM alerts on high-risk agent sessions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8912" y="3730752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D64045">
                <a:alpha val="5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8912" y="3730752"/>
            <a:ext cx="45720" cy="56692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67328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forklift — reads existing Ping + Entra stack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36976" y="1078992"/>
            <a:ext cx="2834640" cy="3611880"/>
          </a:xfrm>
          <a:prstGeom prst="rect">
            <a:avLst/>
          </a:prstGeom>
          <a:solidFill>
            <a:srgbClr val="0F2236"/>
          </a:solidFill>
          <a:ln w="19050">
            <a:solidFill>
              <a:srgbClr val="0E9F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36976" y="1078992"/>
            <a:ext cx="2834640" cy="475488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17043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39896" y="11338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Architecture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401568" y="1700784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0E9F7E">
                <a:alpha val="5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401568" y="1700784"/>
            <a:ext cx="45720" cy="566928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11296" y="173736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MCP-native — works with any agent framework today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401568" y="2377440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0E9F7E">
                <a:alpha val="50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401568" y="2377440"/>
            <a:ext cx="45720" cy="566928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11296" y="2414016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existing IAM investment (Ping + Entra)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401568" y="3054096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0E9F7E">
                <a:alpha val="5000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401568" y="3054096"/>
            <a:ext cx="45720" cy="566928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511296" y="3090672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Node.js — fits current stack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401568" y="3730752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0E9F7E">
                <a:alpha val="50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401568" y="3730752"/>
            <a:ext cx="45720" cy="566928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511296" y="3767328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scale: sidecar → centralised service path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199632" y="1078992"/>
            <a:ext cx="2834640" cy="3611880"/>
          </a:xfrm>
          <a:prstGeom prst="rect">
            <a:avLst/>
          </a:prstGeom>
          <a:solidFill>
            <a:srgbClr val="0F2236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199632" y="1078992"/>
            <a:ext cx="2834640" cy="47548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170432"/>
            <a:ext cx="292608" cy="29260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702552" y="11338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Developers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6364224" y="1700784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5B21B6">
                <a:alpha val="5000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364224" y="1700784"/>
            <a:ext cx="45720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473952" y="173736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call — all identity context resolved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364224" y="2377440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5B21B6">
                <a:alpha val="50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364224" y="2377440"/>
            <a:ext cx="45720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73952" y="2414016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drives code logic (match/switch pattern)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364224" y="3054096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5B21B6">
                <a:alpha val="5000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364224" y="3054096"/>
            <a:ext cx="45720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473952" y="3090672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mode — agents self-moderate without hardcoding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6364224" y="3730752"/>
            <a:ext cx="2505456" cy="566928"/>
          </a:xfrm>
          <a:prstGeom prst="rect">
            <a:avLst/>
          </a:prstGeom>
          <a:solidFill>
            <a:srgbClr val="162030"/>
          </a:solidFill>
          <a:ln w="6350">
            <a:solidFill>
              <a:srgbClr val="5B21B6">
                <a:alpha val="5000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364224" y="3730752"/>
            <a:ext cx="45720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473952" y="3767328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audit events to any SIEM sink out of the box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274320" y="4809744"/>
            <a:ext cx="8595360" cy="237744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411480" y="481888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does not replace Ping or Entra. It makes the investment in both significantly more valuable in an AI-agent world.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Asks from Leadership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0F2236"/>
          </a:solidFill>
          <a:ln w="19050">
            <a:solidFill>
              <a:srgbClr val="0E9F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914400" cy="1097280"/>
          </a:xfrm>
          <a:prstGeom prst="rect">
            <a:avLst/>
          </a:prstGeom>
          <a:solidFill>
            <a:srgbClr val="0E9F7E"/>
          </a:solidFill>
          <a:ln w="12700">
            <a:solidFill>
              <a:srgbClr val="0E9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45336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83664" y="1325880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5-Week PoC Sprint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83664" y="1709928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developer. Existing Entra + Ping credentials (read-only). Target: working ICP server queried by a real CrewAI agent in staging. No new infrastructure required.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496312"/>
            <a:ext cx="8595360" cy="1097280"/>
          </a:xfrm>
          <a:prstGeom prst="rect">
            <a:avLst/>
          </a:prstGeom>
          <a:solidFill>
            <a:srgbClr val="0F2236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496312"/>
            <a:ext cx="914400" cy="1097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2496312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80720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83664" y="2587752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Pilot Agent Use Case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883664" y="297180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internal CrewAI workflow touching both Entra and Ping resources. Integrate ICP. Capture audit trail. Present CISO with the first agent identity accountability report.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3758184"/>
            <a:ext cx="8595360" cy="1097280"/>
          </a:xfrm>
          <a:prstGeom prst="rect">
            <a:avLst/>
          </a:prstGeom>
          <a:solidFill>
            <a:srgbClr val="0F2236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3758184"/>
            <a:ext cx="914400" cy="10972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3758184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69080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83664" y="3849624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Briefing on Audit Output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883664" y="423367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 to walk the CISO through what ICP audit trail shows for 100 sampled agent actions. Validate compliance posture. Secure sign-off for production rollout.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0040" y="495604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· Identity Context Protocol · Confidential · May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Context Protocol (ICP)</dc:title>
  <dc:subject>PptxGenJS Presentation</dc:subject>
  <dc:creator>ICP Architecture Team</dc:creator>
  <cp:lastModifiedBy>ICP Architecture Team</cp:lastModifiedBy>
  <cp:revision>1</cp:revision>
  <dcterms:created xsi:type="dcterms:W3CDTF">2026-05-20T04:46:11Z</dcterms:created>
  <dcterms:modified xsi:type="dcterms:W3CDTF">2026-05-20T04:46:11Z</dcterms:modified>
</cp:coreProperties>
</file>