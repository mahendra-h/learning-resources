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31089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1F69D2"/>
                </a:solidFill>
                <a:latin typeface="Aptos"/>
              </a:rPr>
              <a:t>FINAL V1 DESIGN  •  JSON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896112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3400" b="1">
                <a:solidFill>
                  <a:srgbClr val="162033"/>
                </a:solidFill>
                <a:latin typeface="Aptos Display"/>
              </a:rPr>
              <a:t>IDENTITY TROUBLE SHOOTER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39112"/>
            <a:ext cx="8503920" cy="9601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4000" b="1">
                <a:solidFill>
                  <a:srgbClr val="162033"/>
                </a:solidFill>
                <a:latin typeface="Aptos Display"/>
              </a:rPr>
              <a:t>AI Troubleshooting
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01568"/>
            <a:ext cx="84124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Aptos"/>
              </a:rPr>
              <a:t>Secure by design  ·  Policy governed  ·  Evidence driven  ·  Human controlled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508760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08592" y="1709928"/>
            <a:ext cx="173736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900" b="1">
                <a:solidFill>
                  <a:srgbClr val="1F69D2"/>
                </a:solidFill>
                <a:latin typeface="Aptos"/>
              </a:rPr>
              <a:t>POLICY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168128" y="2176272"/>
            <a:ext cx="0" cy="228600"/>
          </a:xfrm>
          <a:prstGeom prst="line">
            <a:avLst/>
          </a:prstGeom>
          <a:ln w="1905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0" y="2423160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08592" y="2624328"/>
            <a:ext cx="173736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900" b="1">
                <a:solidFill>
                  <a:srgbClr val="189196"/>
                </a:solidFill>
                <a:latin typeface="Aptos"/>
              </a:rPr>
              <a:t>APPLICATION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168128" y="3090672"/>
            <a:ext cx="0" cy="228600"/>
          </a:xfrm>
          <a:prstGeom prst="line">
            <a:avLst/>
          </a:prstGeom>
          <a:ln w="1905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3337560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3538728"/>
            <a:ext cx="173736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900" b="1">
                <a:solidFill>
                  <a:srgbClr val="684EAD"/>
                </a:solidFill>
                <a:latin typeface="Aptos"/>
              </a:rPr>
              <a:t>AI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68128" y="4005072"/>
            <a:ext cx="0" cy="228600"/>
          </a:xfrm>
          <a:prstGeom prst="line">
            <a:avLst/>
          </a:prstGeom>
          <a:ln w="1905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4251960"/>
            <a:ext cx="2057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4453128"/>
            <a:ext cx="173736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900" b="1">
                <a:solidFill>
                  <a:srgbClr val="CA891C"/>
                </a:solidFill>
                <a:latin typeface="Aptos"/>
              </a:rPr>
              <a:t>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5303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00" b="1">
                <a:solidFill>
                  <a:srgbClr val="697484"/>
                </a:solidFill>
                <a:latin typeface="Aptos"/>
              </a:rPr>
              <a:t>ENTERPRISE ARCHITECTURE  /  CYBER  /  RISK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01 • BUSINESS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Make troubleshooting feel shorter.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Same evidence. Less interpretation.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45720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697484"/>
                </a:solidFill>
                <a:latin typeface="Aptos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484632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300" b="1">
                <a:solidFill>
                  <a:srgbClr val="162033"/>
                </a:solidFill>
                <a:latin typeface="Aptos Display"/>
              </a:rPr>
              <a:t>Engineer hunts across responses.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4754880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Directory  →  Authentication  →  Profile
→  Entitlement  →  Application / API
Manual correlation · Manual hypothesis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96128" y="3273552"/>
            <a:ext cx="850392" cy="0"/>
          </a:xfrm>
          <a:prstGeom prst="line">
            <a:avLst/>
          </a:prstGeom>
          <a:ln w="2540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12280" y="1847088"/>
            <a:ext cx="45720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WITH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12848"/>
            <a:ext cx="484632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300" b="1">
                <a:solidFill>
                  <a:srgbClr val="162033"/>
                </a:solidFill>
                <a:latin typeface="Aptos Display"/>
              </a:rPr>
              <a:t>Engineer gets a diagnosis.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971800"/>
            <a:ext cx="4754880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Same evidence
↓
Policy evaluation
↓
AI correlation + explanation
↓
Next investigation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30368"/>
            <a:ext cx="10561320" cy="713232"/>
          </a:xfrm>
          <a:prstGeom prst="roundRect">
            <a:avLst/>
          </a:prstGeom>
          <a:solidFill>
            <a:srgbClr val="EB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58968"/>
            <a:ext cx="101041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250" b="1">
                <a:solidFill>
                  <a:srgbClr val="162033"/>
                </a:solidFill>
                <a:latin typeface="Aptos"/>
              </a:rPr>
              <a:t>AI does not replace troubleshooting.  It accelerates facts → diagnosis.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02 • TRUST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The LLM is not the decision maker.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A clear responsibility boundary makes the system defensible.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41148" cy="96012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2140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41448"/>
            <a:ext cx="1929384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Defines meaning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07208" y="2441448"/>
            <a:ext cx="576072" cy="0"/>
          </a:xfrm>
          <a:prstGeom prst="line">
            <a:avLst/>
          </a:prstGeom>
          <a:ln w="2286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196596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965960"/>
            <a:ext cx="41148" cy="96012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212140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441448"/>
            <a:ext cx="1929384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Enforces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2441448"/>
            <a:ext cx="576071" cy="0"/>
          </a:xfrm>
          <a:prstGeom prst="line">
            <a:avLst/>
          </a:prstGeom>
          <a:ln w="2286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91072" y="196596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965960"/>
            <a:ext cx="41148" cy="96012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2140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41448"/>
            <a:ext cx="1929384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Explains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9912" y="2441448"/>
            <a:ext cx="576072" cy="0"/>
          </a:xfrm>
          <a:prstGeom prst="line">
            <a:avLst/>
          </a:prstGeom>
          <a:ln w="2286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07424" y="1965960"/>
            <a:ext cx="2148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07424" y="1965960"/>
            <a:ext cx="41148" cy="96012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212140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ENGINEER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2441448"/>
            <a:ext cx="1929384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Decides 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822191"/>
            <a:ext cx="3200400" cy="1325880"/>
          </a:xfrm>
          <a:prstGeom prst="roundRect">
            <a:avLst/>
          </a:prstGeom>
          <a:solidFill>
            <a:srgbClr val="EBF3FD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822191"/>
            <a:ext cx="41148" cy="132588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977639"/>
            <a:ext cx="2852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POLICY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352544"/>
            <a:ext cx="2852928" cy="667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Critical · High · Medium · Low
Healthy · Unknown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8848" y="3822191"/>
            <a:ext cx="3200400" cy="1325880"/>
          </a:xfrm>
          <a:prstGeom prst="roundRect">
            <a:avLst/>
          </a:prstGeom>
          <a:solidFill>
            <a:srgbClr val="F4F0FB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98848" y="3822191"/>
            <a:ext cx="41148" cy="132588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3977639"/>
            <a:ext cx="2852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AI EXPLANATION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4352544"/>
            <a:ext cx="2852928" cy="667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Root cause · correlation
Evidence summary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0456" y="3822191"/>
            <a:ext cx="3200400" cy="1325880"/>
          </a:xfrm>
          <a:prstGeom prst="roundRect">
            <a:avLst/>
          </a:prstGeom>
          <a:solidFill>
            <a:srgbClr val="FCF7EA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0456" y="3822191"/>
            <a:ext cx="41148" cy="132588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6" y="3977639"/>
            <a:ext cx="2852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HUMAN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4352544"/>
            <a:ext cx="2852928" cy="667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Operational action
Final accountability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715000"/>
            <a:ext cx="841248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200" b="1">
                <a:solidFill>
                  <a:srgbClr val="162033"/>
                </a:solidFill>
                <a:latin typeface="Aptos"/>
              </a:rPr>
              <a:t>Policy defines  →  Application enforces  →  AI explains  →  Engineer decides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03 •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One controlled path from facts to validated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057400"/>
            <a:ext cx="1371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2057400"/>
            <a:ext cx="41148" cy="86868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212848"/>
            <a:ext cx="115214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532888"/>
            <a:ext cx="1152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Troubleshooter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55648" y="2487168"/>
            <a:ext cx="228600" cy="0"/>
          </a:xfrm>
          <a:prstGeom prst="line">
            <a:avLst/>
          </a:prstGeom>
          <a:ln w="2159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57400" y="2057400"/>
            <a:ext cx="1371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2057400"/>
            <a:ext cx="41148" cy="86868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8" y="2212848"/>
            <a:ext cx="115214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2532888"/>
            <a:ext cx="115214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WAF /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9000" y="2487168"/>
            <a:ext cx="201168" cy="0"/>
          </a:xfrm>
          <a:prstGeom prst="line">
            <a:avLst/>
          </a:prstGeom>
          <a:ln w="2159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03320" y="2057400"/>
            <a:ext cx="1965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2057400"/>
            <a:ext cx="41148" cy="86868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212848"/>
            <a:ext cx="174650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AI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2532888"/>
            <a:ext cx="174650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AuthN/AuthZ · Validate · Minimize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2487168"/>
            <a:ext cx="246889" cy="0"/>
          </a:xfrm>
          <a:prstGeom prst="line">
            <a:avLst/>
          </a:prstGeom>
          <a:ln w="2159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89320" y="2057400"/>
            <a:ext cx="14173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2057400"/>
            <a:ext cx="41148" cy="86868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2212848"/>
            <a:ext cx="119786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2532888"/>
            <a:ext cx="119786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JSON + rules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2487168"/>
            <a:ext cx="246887" cy="0"/>
          </a:xfrm>
          <a:prstGeom prst="line">
            <a:avLst/>
          </a:prstGeom>
          <a:ln w="2159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26679" y="2057400"/>
            <a:ext cx="14173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26679" y="2057400"/>
            <a:ext cx="41148" cy="86868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7" y="2212848"/>
            <a:ext cx="119786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7" y="2532888"/>
            <a:ext cx="119786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Approved enterprise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0" y="2487168"/>
            <a:ext cx="246888" cy="0"/>
          </a:xfrm>
          <a:prstGeom prst="line">
            <a:avLst/>
          </a:prstGeom>
          <a:ln w="2159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64040" y="2057400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64040" y="2057400"/>
            <a:ext cx="41148" cy="86868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3767" y="2212848"/>
            <a:ext cx="17007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7" y="2532888"/>
            <a:ext cx="1700784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Schema + policy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4224528"/>
            <a:ext cx="8549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4480560"/>
            <a:ext cx="150876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CA891C"/>
                </a:solidFill>
                <a:latin typeface="Aptos"/>
              </a:rPr>
              <a:t>CONTROL PLANE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443984"/>
            <a:ext cx="630936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  <a:latin typeface="Aptos"/>
              </a:rPr>
              <a:t>Correlation ID  ·  Audit  ·  Versions  ·  Monitoring  ·  Kill-switch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669280"/>
            <a:ext cx="102412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200" b="1">
                <a:solidFill>
                  <a:srgbClr val="162033"/>
                </a:solidFill>
                <a:latin typeface="Aptos"/>
              </a:rPr>
              <a:t>Protected ingress  |  Minimized data  |  Governed AI  |  Validated output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04 • INPUT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Troubleshooting context =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Context tells us what happened. Policy tells us what it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32004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01  COLLECT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3246120" cy="2423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62033"/>
                </a:solidFill>
                <a:latin typeface="Aptos Display"/>
              </a:rPr>
              <a:t>Application
Environment
Endpoint
Request / Response
Backend responses
Relevant attributes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3246120"/>
            <a:ext cx="777240" cy="0"/>
          </a:xfrm>
          <a:prstGeom prst="line">
            <a:avLst/>
          </a:prstGeom>
          <a:ln w="2540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92040" y="1828800"/>
            <a:ext cx="32004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89196"/>
                </a:solidFill>
                <a:latin typeface="Aptos"/>
              </a:rPr>
              <a:t>02  SECURE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194560"/>
            <a:ext cx="3246120" cy="2423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62033"/>
                </a:solidFill>
                <a:latin typeface="Aptos Display"/>
              </a:rPr>
              <a:t>Validate
↓
Minimize
↓
Sanitize
↓
Select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3246120"/>
            <a:ext cx="731520" cy="0"/>
          </a:xfrm>
          <a:prstGeom prst="line">
            <a:avLst/>
          </a:prstGeom>
          <a:ln w="2540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52560" y="1828800"/>
            <a:ext cx="27432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C94048"/>
                </a:solidFill>
                <a:latin typeface="Aptos"/>
              </a:rPr>
              <a:t>03  AI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94560"/>
            <a:ext cx="2423160" cy="2423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62033"/>
                </a:solidFill>
                <a:latin typeface="Aptos Display"/>
              </a:rPr>
              <a:t>Only what is needed.
No passwords.
No tokens.
No keys.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05 •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Diagnostic Policy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The organization's rulebook — stored inside the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274320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CA891C"/>
                </a:solidFill>
                <a:latin typeface="Aptos"/>
              </a:rPr>
              <a:t>ONE SOURCE OF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297180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100" b="1">
                <a:solidFill>
                  <a:srgbClr val="162033"/>
                </a:solidFill>
                <a:latin typeface="Aptos Display"/>
              </a:rPr>
              <a:t>config/
diagnostic-policy.json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0128"/>
            <a:ext cx="2971800" cy="1280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Version controlled
Read-only at runtime
No database
No external policy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755648"/>
            <a:ext cx="37947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993392"/>
            <a:ext cx="333756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Cascadia Mono"/>
              </a:rPr>
              <a:t>diagnostic-policy.json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423160"/>
            <a:ext cx="3337560" cy="30632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10" b="0">
                <a:solidFill>
                  <a:srgbClr val="162033"/>
                </a:solidFill>
                <a:latin typeface="Cascadia Mono"/>
              </a:rPr>
              <a:t>{
  "policy": {
    "version": "3.2",
    "status": "approved"
  },
  "rules": [
    {
      "id": "RADAR-ENT-004",
      "severity": "HIGH",
      "priority": "P2"
    }
  ]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28800"/>
            <a:ext cx="338328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239D64"/>
                </a:solidFill>
                <a:latin typeface="Aptos"/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40280"/>
            <a:ext cx="3291840" cy="2743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162033"/>
                </a:solidFill>
                <a:latin typeface="Aptos Display"/>
              </a:rPr>
              <a:t>Centralized
Versioned
Reviewable
Testable
Normal rule changes do not require application-code changes.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06 • POLICY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A rule is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Every decision has a visible basis.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41148" cy="128016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RULE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9152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RADAR-ENT-004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82880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1828800"/>
            <a:ext cx="41148" cy="128016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359152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Application /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82880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1828800"/>
            <a:ext cx="41148" cy="128016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359152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Facts that must 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82880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1828800"/>
            <a:ext cx="41148" cy="1280160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SEVERITY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359152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Critical → 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52044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520440"/>
            <a:ext cx="41148" cy="128016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67588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050791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Operational urgency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52044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47288" y="3520440"/>
            <a:ext cx="41148" cy="128016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367588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050791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Required attributes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52044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0216" y="3520440"/>
            <a:ext cx="41148" cy="128016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3096" y="367588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4050791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Why it matters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53144" y="3520440"/>
            <a:ext cx="25146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53144" y="3520440"/>
            <a:ext cx="41148" cy="128016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6024" y="367588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4050791"/>
            <a:ext cx="216712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Approved next step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07 • DETERMINISTIC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The application decides. AI explains.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Severity and priority are not model opinions.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011680"/>
            <a:ext cx="41148" cy="91440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50 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8716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Facts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468880"/>
            <a:ext cx="521208" cy="0"/>
          </a:xfrm>
          <a:prstGeom prst="line">
            <a:avLst/>
          </a:prstGeom>
          <a:ln w="2540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79" y="201168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79" y="2011680"/>
            <a:ext cx="41148" cy="91440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16712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JSON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48716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Rules + precedence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2468880"/>
            <a:ext cx="521207" cy="0"/>
          </a:xfrm>
          <a:prstGeom prst="line">
            <a:avLst/>
          </a:prstGeom>
          <a:ln w="2540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200" y="201168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011680"/>
            <a:ext cx="41148" cy="91440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16712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RULE EVALUATOR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48716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Deterministic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21040" y="2468880"/>
            <a:ext cx="521208" cy="0"/>
          </a:xfrm>
          <a:prstGeom prst="line">
            <a:avLst/>
          </a:prstGeom>
          <a:ln w="2540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19" y="201168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19" y="2011680"/>
            <a:ext cx="41148" cy="91440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7" y="216712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POLICY FINDING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7" y="248716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HIGH · P2 · R-004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794760"/>
            <a:ext cx="4663440" cy="141732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3794760"/>
            <a:ext cx="41148" cy="141732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50208"/>
            <a:ext cx="43159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DETERMINISTIC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325112"/>
            <a:ext cx="4315968" cy="7589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Severity · Priority · Rule ID
Policy version · Evidence coverage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794760"/>
            <a:ext cx="4663440" cy="1417320"/>
          </a:xfrm>
          <a:prstGeom prst="roundRect">
            <a:avLst/>
          </a:prstGeom>
          <a:solidFill>
            <a:srgbClr val="F4F0FB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3794760"/>
            <a:ext cx="41148" cy="141732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3950208"/>
            <a:ext cx="43159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ADVISORY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325112"/>
            <a:ext cx="4315968" cy="7589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Root-cause explanation
Correlation · evidence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715000"/>
            <a:ext cx="740664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C94048"/>
                </a:solidFill>
                <a:latin typeface="Aptos"/>
              </a:rPr>
              <a:t>THE LLM CANNOT OVERRIDE THE POLICY DECISION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08 •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Build the prompt like a security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Only controlled instructions, policy findings and sanitized evidence enter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5146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1148" cy="352044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2167128" cy="2862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Aptos"/>
              </a:rPr>
              <a:t>Role
Safety boundaries
Evidence-only behavior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3547872"/>
            <a:ext cx="274319" cy="0"/>
          </a:xfrm>
          <a:prstGeom prst="line">
            <a:avLst/>
          </a:prstGeom>
          <a:ln w="2032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80" y="1828800"/>
            <a:ext cx="25146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828800"/>
            <a:ext cx="41148" cy="352044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59152"/>
            <a:ext cx="2167128" cy="2862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Aptos"/>
              </a:rPr>
              <a:t>Applicable rules
Rule IDs
Policy version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7880" y="3547872"/>
            <a:ext cx="274320" cy="0"/>
          </a:xfrm>
          <a:prstGeom prst="line">
            <a:avLst/>
          </a:prstGeom>
          <a:ln w="2032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1828800"/>
            <a:ext cx="25146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41148" cy="352044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59152"/>
            <a:ext cx="2167128" cy="2862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Aptos"/>
              </a:rPr>
              <a:t>Sanitized context
Required evidence
Contradictions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0" y="3547872"/>
            <a:ext cx="274319" cy="0"/>
          </a:xfrm>
          <a:prstGeom prst="line">
            <a:avLst/>
          </a:prstGeom>
          <a:ln w="2032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1828800"/>
            <a:ext cx="25146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828800"/>
            <a:ext cx="41148" cy="352044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984248"/>
            <a:ext cx="2167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359152"/>
            <a:ext cx="2167128" cy="2862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Aptos"/>
              </a:rPr>
              <a:t>Strict JSON schema
No policy override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742432"/>
            <a:ext cx="80467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200" b="1">
                <a:solidFill>
                  <a:srgbClr val="C94048"/>
                </a:solidFill>
                <a:latin typeface="Aptos"/>
              </a:rPr>
              <a:t>Untrusted API data is data — never instructions.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09 • LLM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One bounded AI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No tools. No production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57400"/>
            <a:ext cx="41148" cy="91440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1284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SANITIZED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3288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Policy +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07208" y="2514600"/>
            <a:ext cx="521207" cy="0"/>
          </a:xfrm>
          <a:prstGeom prst="line">
            <a:avLst/>
          </a:prstGeom>
          <a:ln w="2286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47287" y="205740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7" y="2057400"/>
            <a:ext cx="41148" cy="91440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5" y="221284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5" y="253288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Versioned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96127" y="2514600"/>
            <a:ext cx="521209" cy="0"/>
          </a:xfrm>
          <a:prstGeom prst="line">
            <a:avLst/>
          </a:prstGeom>
          <a:ln w="2286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6207" y="205740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2057400"/>
            <a:ext cx="41148" cy="91440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21284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ENTERPRISE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53288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Approved endpoint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5048" y="2514600"/>
            <a:ext cx="521207" cy="0"/>
          </a:xfrm>
          <a:prstGeom prst="line">
            <a:avLst/>
          </a:prstGeom>
          <a:ln w="2286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25128" y="205740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5128" y="2057400"/>
            <a:ext cx="41148" cy="91440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5" y="2212848"/>
            <a:ext cx="19293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5" y="2532888"/>
            <a:ext cx="19293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Structured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160520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160520"/>
            <a:ext cx="41148" cy="109728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4315968"/>
            <a:ext cx="18013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TIMEOUT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690872"/>
            <a:ext cx="180136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Bounded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47287" y="4160520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47287" y="4160520"/>
            <a:ext cx="41148" cy="109728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0168" y="4315968"/>
            <a:ext cx="18013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TOKENS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4690872"/>
            <a:ext cx="180136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Limited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6207" y="4160520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36207" y="4160520"/>
            <a:ext cx="41148" cy="1097280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315968"/>
            <a:ext cx="18013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EGRESS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4690872"/>
            <a:ext cx="180136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Restricted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4160520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25128" y="4160520"/>
            <a:ext cx="41148" cy="109728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08007" y="4315968"/>
            <a:ext cx="18013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8007" y="4690872"/>
            <a:ext cx="180136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None in V1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10 • OUTPUT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Never trust raw AI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Every response is validated before the engineer sees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2103120"/>
            <a:ext cx="16916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2103120"/>
            <a:ext cx="41148" cy="91440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58568"/>
            <a:ext cx="14721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1472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LLM 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39112" y="2560320"/>
            <a:ext cx="210312" cy="0"/>
          </a:xfrm>
          <a:prstGeom prst="line">
            <a:avLst/>
          </a:prstGeom>
          <a:ln w="1905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13432" y="2103120"/>
            <a:ext cx="16916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3432" y="2103120"/>
            <a:ext cx="41148" cy="91440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258568"/>
            <a:ext cx="14721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578608"/>
            <a:ext cx="1472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Valid?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05072" y="2560320"/>
            <a:ext cx="210311" cy="0"/>
          </a:xfrm>
          <a:prstGeom prst="line">
            <a:avLst/>
          </a:prstGeom>
          <a:ln w="1905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79392" y="2103120"/>
            <a:ext cx="16916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2103120"/>
            <a:ext cx="41148" cy="91440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258568"/>
            <a:ext cx="14721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578608"/>
            <a:ext cx="1472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Shape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71031" y="2560320"/>
            <a:ext cx="210313" cy="0"/>
          </a:xfrm>
          <a:prstGeom prst="line">
            <a:avLst/>
          </a:prstGeom>
          <a:ln w="1905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45351" y="2103120"/>
            <a:ext cx="16916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1" y="2103120"/>
            <a:ext cx="41148" cy="91440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2258568"/>
            <a:ext cx="14721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2578608"/>
            <a:ext cx="1472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Enum / range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36992" y="2560320"/>
            <a:ext cx="210312" cy="0"/>
          </a:xfrm>
          <a:prstGeom prst="line">
            <a:avLst/>
          </a:prstGeom>
          <a:ln w="1905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11312" y="2103120"/>
            <a:ext cx="16916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11312" y="2103120"/>
            <a:ext cx="41148" cy="91440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258568"/>
            <a:ext cx="14721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578608"/>
            <a:ext cx="1472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Consistent?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02952" y="2560320"/>
            <a:ext cx="210312" cy="0"/>
          </a:xfrm>
          <a:prstGeom prst="line">
            <a:avLst/>
          </a:prstGeom>
          <a:ln w="19050">
            <a:solidFill>
              <a:srgbClr val="239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77272" y="2103120"/>
            <a:ext cx="16916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77272" y="2103120"/>
            <a:ext cx="41148" cy="91440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7000" y="2258568"/>
            <a:ext cx="147218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DISPLAY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2578608"/>
            <a:ext cx="147218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Validated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069080"/>
            <a:ext cx="4709160" cy="1234440"/>
          </a:xfrm>
          <a:prstGeom prst="roundRect">
            <a:avLst/>
          </a:prstGeom>
          <a:solidFill>
            <a:srgbClr val="FDEFF0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4069080"/>
            <a:ext cx="41148" cy="1234440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224528"/>
            <a:ext cx="436168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INVALID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599432"/>
            <a:ext cx="4361688" cy="576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Aptos"/>
              </a:rPr>
              <a:t>Reject · Do not display · Record failure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069080"/>
            <a:ext cx="4709160" cy="123444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4069080"/>
            <a:ext cx="41148" cy="123444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224528"/>
            <a:ext cx="436168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VALID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599432"/>
            <a:ext cx="4361688" cy="576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Aptos"/>
              </a:rPr>
              <a:t>Policy-consistent · Structured · Presentable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11 •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Confidence comes from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Avoid precision-looking numbers invented by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337560" cy="3611880"/>
          </a:xfrm>
          <a:prstGeom prst="roundRect">
            <a:avLst/>
          </a:prstGeom>
          <a:solidFill>
            <a:srgbClr val="EBF3FD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41148" cy="361188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84248"/>
            <a:ext cx="299008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59152"/>
            <a:ext cx="2990088" cy="2953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Aptos"/>
              </a:rPr>
              <a:t>4 evidence items
ACTIVE
AUTH SUCCESS
ENTITLEMENT MISSING
ACCESS DENIED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337560" cy="361188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41148" cy="361188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84248"/>
            <a:ext cx="299008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59152"/>
            <a:ext cx="2990088" cy="2953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Aptos"/>
              </a:rPr>
              <a:t>4 / 4 present
4 / 4 matched
0 contradictions
Coverage =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337560" cy="3611880"/>
          </a:xfrm>
          <a:prstGeom prst="roundRect">
            <a:avLst/>
          </a:prstGeom>
          <a:solidFill>
            <a:srgbClr val="F4F0FB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41148" cy="361188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84248"/>
            <a:ext cx="299008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59152"/>
            <a:ext cx="2990088" cy="2953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Aptos"/>
              </a:rPr>
              <a:t>Evidence confidence
HIGH
Application owns the signal.
AI explains the reasoning.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12 • DIAGNOSIS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What the engineer actually sees.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Policy decision and AI explanation are visibly separated.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148840" cy="2148840"/>
          </a:xfrm>
          <a:prstGeom prst="roundRect">
            <a:avLst/>
          </a:prstGeom>
          <a:solidFill>
            <a:srgbClr val="FDEFF0"/>
          </a:solidFill>
          <a:ln w="10160">
            <a:solidFill>
              <a:srgbClr val="C9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7830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500" b="1">
                <a:solidFill>
                  <a:srgbClr val="C94048"/>
                </a:solidFill>
                <a:latin typeface="Aptos Display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52928"/>
            <a:ext cx="17830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900" b="0">
                <a:solidFill>
                  <a:srgbClr val="697484"/>
                </a:solidFill>
                <a:latin typeface="Aptos"/>
              </a:rPr>
              <a:t>Policy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755648"/>
            <a:ext cx="3657600" cy="1097280"/>
          </a:xfrm>
          <a:prstGeom prst="roundRect">
            <a:avLst/>
          </a:prstGeom>
          <a:solidFill>
            <a:srgbClr val="FCF7EA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755648"/>
            <a:ext cx="41148" cy="109728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911095"/>
            <a:ext cx="3310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POLICY /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86000"/>
            <a:ext cx="331012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Aptos"/>
              </a:rPr>
              <a:t>RADAR-ENT-004  ·  v3.2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035808"/>
            <a:ext cx="3657600" cy="1554480"/>
          </a:xfrm>
          <a:prstGeom prst="roundRect">
            <a:avLst/>
          </a:prstGeom>
          <a:solidFill>
            <a:srgbClr val="EBF3FD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3035808"/>
            <a:ext cx="41148" cy="155448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191256"/>
            <a:ext cx="3310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66160"/>
            <a:ext cx="3310128" cy="8961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✓ Directory ACTIVE
✓ Authentication SUCCESS
✕ Entitlement MISSING
✕ Access DENIED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755648"/>
            <a:ext cx="4343400" cy="1874519"/>
          </a:xfrm>
          <a:prstGeom prst="roundRect">
            <a:avLst/>
          </a:prstGeom>
          <a:solidFill>
            <a:srgbClr val="F4F0FB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1755648"/>
            <a:ext cx="41148" cy="1874519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911095"/>
            <a:ext cx="3995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AI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286000"/>
            <a:ext cx="3995928" cy="121615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Aptos"/>
              </a:rPr>
              <a:t>Authentication succeeds, but authorization fails because the required application entitlement is missing.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840480"/>
            <a:ext cx="4343400" cy="109728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0" y="3840480"/>
            <a:ext cx="41148" cy="109728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995928"/>
            <a:ext cx="39959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 Display"/>
              </a:rPr>
              <a:t>NEXT INVESTIGATION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370832"/>
            <a:ext cx="399592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Aptos"/>
              </a:rPr>
              <a:t>Verify entitlement assignment.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742432"/>
            <a:ext cx="8229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200" b="1">
                <a:solidFill>
                  <a:srgbClr val="162033"/>
                </a:solidFill>
                <a:latin typeface="Aptos"/>
              </a:rPr>
              <a:t>Why HIGH?  →  Rule + evidence.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13 •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Controls surround the AI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104241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810512"/>
            <a:ext cx="1828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1F69D2"/>
                </a:solidFill>
                <a:latin typeface="Aptos"/>
              </a:rP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92224"/>
            <a:ext cx="813816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"/>
              </a:rPr>
              <a:t>Restricted egress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" y="2322576"/>
            <a:ext cx="9912096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468880"/>
            <a:ext cx="1828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189196"/>
                </a:solidFill>
                <a:latin typeface="Aptos"/>
              </a:rPr>
              <a:t>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450592"/>
            <a:ext cx="7626096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"/>
              </a:rPr>
              <a:t>AuthN / AuthZ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80744" y="2980944"/>
            <a:ext cx="9400032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1912" y="3127248"/>
            <a:ext cx="1828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239D64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3108960"/>
            <a:ext cx="7114032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"/>
              </a:rPr>
              <a:t>Minimize / sanitize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36776" y="3639312"/>
            <a:ext cx="8887968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37944" y="3785616"/>
            <a:ext cx="1828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84EAD"/>
                </a:solidFill>
                <a:latin typeface="Apto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3767328"/>
            <a:ext cx="6601968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"/>
              </a:rPr>
              <a:t>Injection defense / no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92808" y="4297680"/>
            <a:ext cx="8375904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3976" y="4443984"/>
            <a:ext cx="1828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CA891C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4425696"/>
            <a:ext cx="6089904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"/>
              </a:rPr>
              <a:t>Schema + policy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4956048"/>
            <a:ext cx="786384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50008" y="5102352"/>
            <a:ext cx="1828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1F69D2"/>
                </a:solidFill>
                <a:latin typeface="Aptos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084064"/>
            <a:ext cx="55778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"/>
              </a:rPr>
              <a:t>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200" b="1">
                <a:solidFill>
                  <a:srgbClr val="162033"/>
                </a:solidFill>
                <a:latin typeface="Aptos"/>
              </a:rPr>
              <a:t>No single safeguard is trusted alone.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14 • SECURITY +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Trace the decision. Not the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Reconstruct the path without turning audit into a data leak.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41148" cy="91440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29967"/>
            <a:ext cx="2112263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50008"/>
            <a:ext cx="2112263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Correlation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39" y="2331720"/>
            <a:ext cx="320041" cy="0"/>
          </a:xfrm>
          <a:prstGeom prst="line">
            <a:avLst/>
          </a:prstGeom>
          <a:ln w="2032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20439" y="1874519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39" y="1874519"/>
            <a:ext cx="41148" cy="91440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029967"/>
            <a:ext cx="2112263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350008"/>
            <a:ext cx="2112263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v3.2 / R-004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59" y="2331720"/>
            <a:ext cx="320041" cy="0"/>
          </a:xfrm>
          <a:prstGeom prst="line">
            <a:avLst/>
          </a:prstGeom>
          <a:ln w="2032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59" y="1874519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1874519"/>
            <a:ext cx="41148" cy="91440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029967"/>
            <a:ext cx="2112263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350008"/>
            <a:ext cx="2112263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Approved LLM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2331720"/>
            <a:ext cx="320039" cy="0"/>
          </a:xfrm>
          <a:prstGeom prst="line">
            <a:avLst/>
          </a:prstGeom>
          <a:ln w="2032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98280" y="1874519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874519"/>
            <a:ext cx="41148" cy="91440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7" y="2029967"/>
            <a:ext cx="2112263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7" y="2350008"/>
            <a:ext cx="2112263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HIGH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474720"/>
            <a:ext cx="5074920" cy="1874519"/>
          </a:xfrm>
          <a:prstGeom prst="roundRect">
            <a:avLst/>
          </a:prstGeom>
          <a:solidFill>
            <a:srgbClr val="FCF7EA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474720"/>
            <a:ext cx="41148" cy="1874519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630168"/>
            <a:ext cx="472744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05072"/>
            <a:ext cx="4727448" cy="121615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Who · When · Application · Environment
Policy version · Rule ID · Prompt version
Model version · Outcome · Validation 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474720"/>
            <a:ext cx="5074920" cy="1874519"/>
          </a:xfrm>
          <a:prstGeom prst="roundRect">
            <a:avLst/>
          </a:prstGeom>
          <a:solidFill>
            <a:srgbClr val="FDEFF0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474720"/>
            <a:ext cx="41148" cy="1874519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630168"/>
            <a:ext cx="472744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NEVER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005072"/>
            <a:ext cx="4727448" cy="121615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Passwords · tokens · API keys
Private keys · auth headers · session cookies
Unnecessary sensitive payloads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15 • RED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Attack the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Especially test whether hostile data can change a governed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21208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41148" cy="1042415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486460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PROMPT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57984"/>
            <a:ext cx="4864608" cy="38404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Aptos"/>
              </a:rPr>
              <a:t>Attack: Make API data look like instructions
Defense: Untrusted-data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27632"/>
            <a:ext cx="521208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27632"/>
            <a:ext cx="41148" cy="1042415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86460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SECRET EXFILTRATION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57984"/>
            <a:ext cx="4864608" cy="38404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Aptos"/>
              </a:rPr>
              <a:t>Attack: Trick model into revealing secrets
Defense: Minimize + sanitize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53512"/>
            <a:ext cx="521208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953512"/>
            <a:ext cx="41148" cy="1042415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08960"/>
            <a:ext cx="486460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POLICY BYPASS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83864"/>
            <a:ext cx="4864608" cy="38404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Aptos"/>
              </a:rPr>
              <a:t>Attack: Force LLM to change severity
Defense: Deterministic policy wins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53512"/>
            <a:ext cx="521208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53512"/>
            <a:ext cx="41148" cy="1042415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108960"/>
            <a:ext cx="486460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AUTH BYPASS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83864"/>
            <a:ext cx="4864608" cy="38404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Aptos"/>
              </a:rPr>
              <a:t>Attack: Spoof caller or role
Defense: Server-side AuthN/AuthZ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279392"/>
            <a:ext cx="521208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279392"/>
            <a:ext cx="41148" cy="1042415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34840"/>
            <a:ext cx="486460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SSRF / EGRESS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09744"/>
            <a:ext cx="4864608" cy="38404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Aptos"/>
              </a:rPr>
              <a:t>Attack: Reach arbitrary destination
Defense: Restricted egress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79392"/>
            <a:ext cx="521208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279392"/>
            <a:ext cx="41148" cy="1042415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486460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62033"/>
                </a:solidFill>
                <a:latin typeface="Aptos Display"/>
              </a:rPr>
              <a:t>OUTPUT ABUSE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09744"/>
            <a:ext cx="4864608" cy="38404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Aptos"/>
              </a:rPr>
              <a:t>Attack: Unsafe recommendation
Defense: Schema + policy validation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16 • RED TEAM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Can malicious data override policy?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This should be a mandatory adversarial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057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1148" cy="91440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075688"/>
            <a:ext cx="1837943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395728"/>
            <a:ext cx="1837943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Severity = HIGH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4912" y="2377440"/>
            <a:ext cx="548640" cy="0"/>
          </a:xfrm>
          <a:prstGeom prst="line">
            <a:avLst/>
          </a:prstGeom>
          <a:ln w="2540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64992" y="1920240"/>
            <a:ext cx="2194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920240"/>
            <a:ext cx="41148" cy="914400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075688"/>
            <a:ext cx="197510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MALICIOUS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95728"/>
            <a:ext cx="197510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“Ignore policy”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0" y="2377440"/>
            <a:ext cx="530352" cy="0"/>
          </a:xfrm>
          <a:prstGeom prst="line">
            <a:avLst/>
          </a:prstGeom>
          <a:ln w="25400">
            <a:solidFill>
              <a:srgbClr val="C94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91072" y="1920240"/>
            <a:ext cx="21031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920240"/>
            <a:ext cx="41148" cy="91440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75688"/>
            <a:ext cx="1883663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95728"/>
            <a:ext cx="1883663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explains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0" y="2377440"/>
            <a:ext cx="530352" cy="0"/>
          </a:xfrm>
          <a:prstGeom prst="line">
            <a:avLst/>
          </a:prstGeom>
          <a:ln w="2540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25712" y="1920240"/>
            <a:ext cx="23317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5712" y="1920240"/>
            <a:ext cx="41148" cy="91440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75688"/>
            <a:ext cx="2112263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395728"/>
            <a:ext cx="2112263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HIGH remains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886200"/>
            <a:ext cx="4800600" cy="132588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3886200"/>
            <a:ext cx="41148" cy="132588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041648"/>
            <a:ext cx="4453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EXPECTED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416552"/>
            <a:ext cx="4453128" cy="667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Policy classification remains HIGH.
Malicious text is treated as data.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86200"/>
            <a:ext cx="4800600" cy="1325880"/>
          </a:xfrm>
          <a:prstGeom prst="roundRect">
            <a:avLst/>
          </a:prstGeom>
          <a:solidFill>
            <a:srgbClr val="FCF7EA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886200"/>
            <a:ext cx="41148" cy="132588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041648"/>
            <a:ext cx="44531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16552"/>
            <a:ext cx="4453128" cy="667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Record policy version, rule ID,
validation outcome and disagreement.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17 •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AI can fail. Core troubleshooting must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Graceful degradation is a design requirement.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24231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41148" cy="91440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212848"/>
            <a:ext cx="220370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CORE TROUBLESHOOTING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32888"/>
            <a:ext cx="220370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always available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514600"/>
            <a:ext cx="548640" cy="0"/>
          </a:xfrm>
          <a:prstGeom prst="line">
            <a:avLst/>
          </a:prstGeom>
          <a:ln w="25400">
            <a:solidFill>
              <a:srgbClr val="239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77639" y="2057400"/>
            <a:ext cx="24231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2057400"/>
            <a:ext cx="41148" cy="91440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212848"/>
            <a:ext cx="220370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AI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532888"/>
            <a:ext cx="220370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optional analysis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0" y="2514600"/>
            <a:ext cx="548640" cy="0"/>
          </a:xfrm>
          <a:prstGeom prst="line">
            <a:avLst/>
          </a:prstGeom>
          <a:ln w="2540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60" y="2057400"/>
            <a:ext cx="24231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057400"/>
            <a:ext cx="41148" cy="91440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2212848"/>
            <a:ext cx="220370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532888"/>
            <a:ext cx="220370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dependency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94760"/>
            <a:ext cx="4892040" cy="141732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794760"/>
            <a:ext cx="41148" cy="141732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950208"/>
            <a:ext cx="45445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325112"/>
            <a:ext cx="4544568" cy="7589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Timeout / outage → AI unavailable
Raw troubleshooting remains available.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794760"/>
            <a:ext cx="4892040" cy="1417320"/>
          </a:xfrm>
          <a:prstGeom prst="roundRect">
            <a:avLst/>
          </a:prstGeom>
          <a:solidFill>
            <a:srgbClr val="FDEFF0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794760"/>
            <a:ext cx="41148" cy="1417320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950208"/>
            <a:ext cx="454456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00" b="1">
                <a:solidFill>
                  <a:srgbClr val="162033"/>
                </a:solidFill>
                <a:latin typeface="Aptos Display"/>
              </a:rPr>
              <a:t>OTHER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25112"/>
            <a:ext cx="4544568" cy="7589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Invalid policy → disable AI safely
Invalid output → reject · Rate abuse → throttle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18 • 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Change the rules. Not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JSON makes criteria visible, reviewable and versioned.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41148" cy="91440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121408"/>
            <a:ext cx="179222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441448"/>
            <a:ext cx="179222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diagnostic-policy.json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2423160"/>
            <a:ext cx="256032" cy="0"/>
          </a:xfrm>
          <a:prstGeom prst="line">
            <a:avLst/>
          </a:prstGeom>
          <a:ln w="1905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39" y="196596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1965960"/>
            <a:ext cx="41148" cy="91440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2121408"/>
            <a:ext cx="179222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441448"/>
            <a:ext cx="179222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Owner + approval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2423160"/>
            <a:ext cx="256032" cy="0"/>
          </a:xfrm>
          <a:prstGeom prst="line">
            <a:avLst/>
          </a:prstGeom>
          <a:ln w="1905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66359" y="196596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59" y="1965960"/>
            <a:ext cx="41148" cy="91440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2121408"/>
            <a:ext cx="179222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441448"/>
            <a:ext cx="179222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Schema + policy tests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2423160"/>
            <a:ext cx="256031" cy="0"/>
          </a:xfrm>
          <a:prstGeom prst="line">
            <a:avLst/>
          </a:prstGeom>
          <a:ln w="19050">
            <a:solidFill>
              <a:srgbClr val="239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79" y="196596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965960"/>
            <a:ext cx="41148" cy="91440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7" y="2121408"/>
            <a:ext cx="179222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2441448"/>
            <a:ext cx="179222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New policy version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09759" y="2423160"/>
            <a:ext cx="256033" cy="0"/>
          </a:xfrm>
          <a:prstGeom prst="line">
            <a:avLst/>
          </a:prstGeom>
          <a:ln w="19050">
            <a:solidFill>
              <a:srgbClr val="684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29800" y="1965960"/>
            <a:ext cx="2011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29800" y="1965960"/>
            <a:ext cx="41148" cy="914400"/>
          </a:xfrm>
          <a:prstGeom prst="rect">
            <a:avLst/>
          </a:prstGeom>
          <a:solidFill>
            <a:srgbClr val="1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9528" y="2121408"/>
            <a:ext cx="1792224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 Display"/>
              </a:rPr>
              <a:t>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441448"/>
            <a:ext cx="1792224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850" b="0">
                <a:solidFill>
                  <a:srgbClr val="697484"/>
                </a:solidFill>
                <a:latin typeface="Aptos"/>
              </a:rPr>
              <a:t>Audit uses 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840480"/>
            <a:ext cx="104241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00" b="1">
                <a:solidFill>
                  <a:srgbClr val="162033"/>
                </a:solidFill>
                <a:latin typeface="Aptos"/>
              </a:rPr>
              <a:t>RADAR-ENT-004  ·  v3.1 → v3.2  ·  HIGH → MEDIUM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4709160"/>
            <a:ext cx="10058400" cy="822960"/>
          </a:xfrm>
          <a:prstGeom prst="roundRect">
            <a:avLst/>
          </a:prstGeom>
          <a:solidFill>
            <a:srgbClr val="FC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4956048"/>
            <a:ext cx="969264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162033"/>
                </a:solidFill>
                <a:latin typeface="Aptos"/>
              </a:rPr>
              <a:t>No application-code change for a normal rule update — but change control still applies.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19 •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Never let the LLM invent an organizational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Unknown is safer than an invented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429000" cy="3611880"/>
          </a:xfrm>
          <a:prstGeom prst="roundRect">
            <a:avLst/>
          </a:prstGeom>
          <a:solidFill>
            <a:srgbClr val="FDEFF0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41148" cy="3611880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30815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NO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9152"/>
            <a:ext cx="3081528" cy="2953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No configured rule applies.
→ UNKNOWN / UNCLASSIFIED
→ Engineer review
→ AI may summarize evidence
→ AI cannot invent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3611880"/>
          </a:xfrm>
          <a:prstGeom prst="roundRect">
            <a:avLst/>
          </a:prstGeom>
          <a:solidFill>
            <a:srgbClr val="FCF7EA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41148" cy="361188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84248"/>
            <a:ext cx="30815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MULTIPLE MATCHES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59152"/>
            <a:ext cx="3081528" cy="2953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Several rules apply.
→ Deterministic precedence
→ Record selected rule(s)
→ No model arbitration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28800"/>
            <a:ext cx="3429000" cy="361188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28800"/>
            <a:ext cx="41148" cy="361188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1984248"/>
            <a:ext cx="30815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LLM DISAGREES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359152"/>
            <a:ext cx="3081528" cy="29535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Policy says HIGH.
LLM says LOW.
→ Policy wins
→ Output normalized
→ Disagreement recorded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20 • V1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Deliberately small.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Enough to prove value and governance. Nothing unnecessary.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257800" cy="425196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41148" cy="425196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49103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BUILD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4910328" cy="3593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✓ Context contract
✓ diagnostic-policy.json
✓ Deterministic evaluator
✓ Secure POST /ai/troubleshoot
✓ Enterprise LLM
✓ Policy-governed prompt
✓ Output validation
✓ Policy consistency
✓ Security + audit
✓ Red-team + failure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5257800" cy="4251960"/>
          </a:xfrm>
          <a:prstGeom prst="roundRect">
            <a:avLst/>
          </a:prstGeom>
          <a:solidFill>
            <a:srgbClr val="FDEFF0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91640"/>
            <a:ext cx="41148" cy="4251960"/>
          </a:xfrm>
          <a:prstGeom prst="rect">
            <a:avLst/>
          </a:prstGeom>
          <a:solidFill>
            <a:srgbClr val="C9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47088"/>
            <a:ext cx="491032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62033"/>
                </a:solidFill>
                <a:latin typeface="Aptos Display"/>
              </a:rPr>
              <a:t>DEFER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21992"/>
            <a:ext cx="4910328" cy="3593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Aptos"/>
              </a:rPr>
              <a:t>✕ External policy database
✕ External rules engine
✕ RAG / vector DB
✕ Fine-tuning
✕ Autonomous agent
✕ Tool calling
✕ Production remediation
✕ Runtime policy editing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21 •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V1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A controlled path from implementation to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6479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2140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Standardize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0088" y="1938528"/>
            <a:ext cx="347472" cy="0"/>
          </a:xfrm>
          <a:prstGeom prst="line">
            <a:avLst/>
          </a:prstGeom>
          <a:ln w="16510">
            <a:solidFill>
              <a:srgbClr val="1F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0" y="178308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CA891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76479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2140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JSON + evaluator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0448" y="1938528"/>
            <a:ext cx="347472" cy="0"/>
          </a:xfrm>
          <a:prstGeom prst="line">
            <a:avLst/>
          </a:prstGeom>
          <a:ln w="16510">
            <a:solidFill>
              <a:srgbClr val="CA8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178308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C9404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6479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12140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Auth · sanitize · limits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50808" y="1938528"/>
            <a:ext cx="347472" cy="0"/>
          </a:xfrm>
          <a:prstGeom prst="line">
            <a:avLst/>
          </a:prstGeom>
          <a:ln w="16510">
            <a:solidFill>
              <a:srgbClr val="C94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35440" y="178308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684EA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176479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12140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Prompt + enterprise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5760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239D64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3931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99592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Schema + policy check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90088" y="3813048"/>
            <a:ext cx="347472" cy="0"/>
          </a:xfrm>
          <a:prstGeom prst="line">
            <a:avLst/>
          </a:prstGeom>
          <a:ln w="16510">
            <a:solidFill>
              <a:srgbClr val="239D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74720" y="365760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89196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63931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99592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Diagnosis panel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70448" y="3813048"/>
            <a:ext cx="347472" cy="0"/>
          </a:xfrm>
          <a:prstGeom prst="line">
            <a:avLst/>
          </a:prstGeom>
          <a:ln w="16510">
            <a:solidFill>
              <a:srgbClr val="18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55080" y="365760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C94048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63931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ASSURE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99592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Red-team + resilience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50808" y="3813048"/>
            <a:ext cx="347472" cy="0"/>
          </a:xfrm>
          <a:prstGeom prst="line">
            <a:avLst/>
          </a:prstGeom>
          <a:ln w="16510">
            <a:solidFill>
              <a:srgbClr val="C94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235440" y="3657600"/>
            <a:ext cx="502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239D64"/>
                </a:solidFill>
                <a:latin typeface="Aptos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3639312"/>
            <a:ext cx="1874519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62033"/>
                </a:solidFill>
                <a:latin typeface="Aptos"/>
              </a:rPr>
              <a:t>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3995928"/>
            <a:ext cx="1874519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69" b="0">
                <a:solidFill>
                  <a:srgbClr val="697484"/>
                </a:solidFill>
                <a:latin typeface="Aptos"/>
              </a:rPr>
              <a:t>Measure value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22 •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Prove the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Measure speed, quality, trust and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560320" cy="3337560"/>
          </a:xfrm>
          <a:prstGeom prst="roundRect">
            <a:avLst/>
          </a:prstGeom>
          <a:solidFill>
            <a:srgbClr val="EBF8F1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41148" cy="3337560"/>
          </a:xfrm>
          <a:prstGeom prst="rect">
            <a:avLst/>
          </a:prstGeom>
          <a:solidFill>
            <a:srgbClr val="239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221284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2212848" cy="267919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Time to likely diagnosis
Faster troubleshooting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560320" cy="3337560"/>
          </a:xfrm>
          <a:prstGeom prst="roundRect">
            <a:avLst/>
          </a:prstGeom>
          <a:solidFill>
            <a:srgbClr val="EBF3FD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41148" cy="3337560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984248"/>
            <a:ext cx="221284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59152"/>
            <a:ext cx="2212848" cy="267919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Root-cause accuracy
Known-scenario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560320" cy="3337560"/>
          </a:xfrm>
          <a:prstGeom prst="roundRect">
            <a:avLst/>
          </a:prstGeom>
          <a:solidFill>
            <a:srgbClr val="F4F0FB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41148" cy="3337560"/>
          </a:xfrm>
          <a:prstGeom prst="rect">
            <a:avLst/>
          </a:prstGeom>
          <a:solidFill>
            <a:srgbClr val="684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84248"/>
            <a:ext cx="221284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59152"/>
            <a:ext cx="2212848" cy="267919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Engineer acceptance
Useful + explainable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560320" cy="3337560"/>
          </a:xfrm>
          <a:prstGeom prst="roundRect">
            <a:avLst/>
          </a:prstGeom>
          <a:solidFill>
            <a:srgbClr val="FCF7EA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41148" cy="3337560"/>
          </a:xfrm>
          <a:prstGeom prst="rect">
            <a:avLst/>
          </a:prstGeom>
          <a:solidFill>
            <a:srgbClr val="CA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984248"/>
            <a:ext cx="2212848" cy="2468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50" b="1">
                <a:solidFill>
                  <a:srgbClr val="162033"/>
                </a:solidFill>
                <a:latin typeface="Aptos Display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59152"/>
            <a:ext cx="2212848" cy="2679191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Aptos"/>
              </a:rPr>
              <a:t>Policy consistency
Same policy → same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300" b="1">
                <a:solidFill>
                  <a:srgbClr val="162033"/>
                </a:solidFill>
                <a:latin typeface="Aptos"/>
              </a:rPr>
              <a:t>Success = faster diagnosis without increasing security, operational or governance risk.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23 •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Security go-live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Every control must have evidence before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92224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Threat model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27632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Data classification approved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627632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92224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Enterprise LLM approved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560320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724912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RBAC tested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60320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724912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Sanitization tested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560320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724912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Prompt injection tested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93008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657600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Policy bypass tested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493008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657600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Output validation tested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3493008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3657600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Audit trail validated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25696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590288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Config corruption tested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425696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4590288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AI outage tested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4425696"/>
            <a:ext cx="32461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4590288"/>
            <a:ext cx="28346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19" b="1">
                <a:solidFill>
                  <a:srgbClr val="162033"/>
                </a:solidFill>
                <a:latin typeface="Aptos"/>
              </a:rPr>
              <a:t>□  Kill-switch tested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760720"/>
            <a:ext cx="676656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900" b="1">
                <a:solidFill>
                  <a:srgbClr val="C94048"/>
                </a:solidFill>
                <a:latin typeface="Aptos"/>
              </a:rPr>
              <a:t>NO PRODUCTION GO-LIVE WITHOUT SECURITY EVIDENCE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98755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697484"/>
                </a:solidFill>
                <a:latin typeface="Aptos"/>
              </a:rPr>
              <a:t>24 •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9848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800" b="1">
                <a:solidFill>
                  <a:srgbClr val="162033"/>
                </a:solidFill>
                <a:latin typeface="Aptos Display"/>
              </a:rPr>
              <a:t>The whole architecture in 10 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104241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0">
                <a:solidFill>
                  <a:srgbClr val="697484"/>
                </a:solidFill>
                <a:latin typeface="Aptos"/>
              </a:rPr>
              <a:t>The mental model to retain.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"/>
            <a:ext cx="50292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1">
                <a:solidFill>
                  <a:srgbClr val="697484"/>
                </a:solidFill>
                <a:latin typeface="Aptos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097280" cy="32004"/>
          </a:xfrm>
          <a:prstGeom prst="rect">
            <a:avLst/>
          </a:prstGeom>
          <a:solidFill>
            <a:srgbClr val="1F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515600" cy="137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650" b="1">
                <a:solidFill>
                  <a:srgbClr val="697484"/>
                </a:solidFill>
                <a:latin typeface="Aptos"/>
              </a:rPr>
              <a:t>IDENTITY TROUBLE SHOOTER  •  AI TROUBLESHOOTING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Systems provide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813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Context standardizes those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JSON policy defines organizational 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957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Application evaluates rules deterministically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101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F69D2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918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Policy findings enter the governed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101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89196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918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AI correlates and explains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245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89196"/>
                </a:solidFill>
                <a:latin typeface="Aptos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062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Validation rejects unsafe or inconsistent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245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89196"/>
                </a:solidFill>
                <a:latin typeface="Aptos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062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Audit records policy + model +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389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89196"/>
                </a:solidFill>
                <a:latin typeface="Aptos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206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AI failure never breaks core 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38928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1">
                <a:solidFill>
                  <a:srgbClr val="189196"/>
                </a:solidFill>
                <a:latin typeface="Apto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206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 b="1">
                <a:solidFill>
                  <a:srgbClr val="162033"/>
                </a:solidFill>
                <a:latin typeface="Aptos"/>
              </a:rPr>
              <a:t>Engineer makes the final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97880"/>
            <a:ext cx="996696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200" b="1">
                <a:solidFill>
                  <a:srgbClr val="162033"/>
                </a:solidFill>
                <a:latin typeface="Aptos"/>
              </a:rPr>
              <a:t>If leadership remembers one thing: the policy controls the decision.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393192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1F69D2"/>
                </a:solidFill>
                <a:latin typeface="Aptos"/>
              </a:rPr>
              <a:t>FINAL ARCHITECTURE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9875520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3600" b="1">
                <a:solidFill>
                  <a:srgbClr val="162033"/>
                </a:solidFill>
                <a:latin typeface="Aptos Display"/>
              </a:rPr>
              <a:t>Policy defines.
Application enforces.
AI explains.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50976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0">
                <a:solidFill>
                  <a:srgbClr val="374151"/>
                </a:solidFill>
                <a:latin typeface="Aptos"/>
              </a:rPr>
              <a:t>The engineer remains in control.
The organization controls the criteria.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17720"/>
            <a:ext cx="106070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882896"/>
            <a:ext cx="101498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150" b="1">
                <a:solidFill>
                  <a:srgbClr val="162033"/>
                </a:solidFill>
                <a:latin typeface="Aptos"/>
              </a:rPr>
              <a:t>POLICY DEFINES  →  APPLICATION ENFORCES  →  AI CORRELATES &amp; EXPLAINS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85232"/>
            <a:ext cx="101498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900" b="1">
                <a:solidFill>
                  <a:srgbClr val="1F69D2"/>
                </a:solidFill>
                <a:latin typeface="Aptos"/>
              </a:rPr>
              <a:t>VALIDATION VERIFIES  →  AUDIT RECORDS  →  ENGINEER DECIDES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Trouble Shooter — Enterprise Light Executive Design</dc:title>
  <dc:subject>Security-first, policy-governed AI architecture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